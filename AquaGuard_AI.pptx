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notes' format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D9F233E-1F7B-4008-BEBD-B9F11E3D84FC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B376633-4D3F-4598-A663-D6679F56C27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20C3F21-3E95-4887-A398-AFD4D3A8A36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B2EB46D-6F27-4630-9CA2-F9A3139E5D0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E439F65-321C-43F9-92E3-72D55548867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9B508E7-82FC-4F32-8023-A89F9C137B3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1BAF2AE-AAB0-465E-BC98-8D4D46EE6E2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3EA8260-880D-435A-BCA7-DC740B86612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F7E7352-3878-4CD2-B57D-A0DD23E5D59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EB2917A-AE30-4A05-8564-6F5FD2676F7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B904D1C-E1C8-4813-8EC0-B69FB3A0452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74C8964-F37D-45CA-9BBC-87D8EE9D782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DA6EAC4-EFE1-4386-B48A-CD81593B5F3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0C5BF46-FD9E-4B42-B320-FB9BEBAC6C1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43A9DA2-5D84-489F-90A4-E821BB422E8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9B5313D-686C-4C2C-A8ED-FE8C9AFAC7F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IN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IN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jpeg"/><Relationship Id="rId3" Type="http://schemas.openxmlformats.org/officeDocument/2006/relationships/image" Target="../media/image6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3"/>
          <p:cNvSpPr/>
          <p:nvPr/>
        </p:nvSpPr>
        <p:spPr>
          <a:xfrm>
            <a:off x="365760" y="640080"/>
            <a:ext cx="84121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5200" b="1" u="none" strike="noStrike">
                <a:solidFill>
                  <a:srgbClr val="00e5ff"/>
                </a:solidFill>
                <a:effectLst/>
                <a:uFillTx/>
                <a:latin typeface="Segoe UI"/>
                <a:ea typeface="Segoe UI"/>
              </a:rPr>
              <a:t>AquaGuard AI</a:t>
            </a:r>
            <a:endParaRPr lang="en-IN" sz="5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4"/>
          <p:cNvSpPr/>
          <p:nvPr/>
        </p:nvSpPr>
        <p:spPr>
          <a:xfrm>
            <a:off x="365760" y="1481400"/>
            <a:ext cx="8412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Smart Protection System for Three-Phase Agricultural Induction Motors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5"/>
          <p:cNvSpPr/>
          <p:nvPr/>
        </p:nvSpPr>
        <p:spPr>
          <a:xfrm>
            <a:off x="2286000" y="2176200"/>
            <a:ext cx="4571640" cy="270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7640" bIns="-1764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6"/>
          <p:cNvSpPr/>
          <p:nvPr/>
        </p:nvSpPr>
        <p:spPr>
          <a:xfrm>
            <a:off x="365760" y="2304360"/>
            <a:ext cx="8412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7"/>
          <p:cNvSpPr/>
          <p:nvPr/>
        </p:nvSpPr>
        <p:spPr>
          <a:xfrm>
            <a:off x="5580000" y="2731680"/>
            <a:ext cx="34743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N. Anirudh 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V. Ranjith Kumar 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A. Karthik  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R. Mahesh Babu 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0" y="5083920"/>
            <a:ext cx="9143640" cy="5436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320040" y="4681800"/>
            <a:ext cx="1325520" cy="255600"/>
          </a:xfrm>
          <a:prstGeom prst="roundRect">
            <a:avLst>
              <a:gd name="adj" fmla="val 17857"/>
            </a:avLst>
          </a:prstGeom>
          <a:solidFill>
            <a:srgbClr val="1e293b"/>
          </a:solidFill>
          <a:ln w="10160">
            <a:solidFill>
              <a:srgbClr val="00ff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320040" y="4681800"/>
            <a:ext cx="1325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00ff88"/>
                </a:solidFill>
                <a:effectLst/>
                <a:uFillTx/>
                <a:latin typeface="Segoe UI"/>
                <a:ea typeface="Segoe UI"/>
              </a:rPr>
              <a:t>ESP32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1783080" y="4681800"/>
            <a:ext cx="1325520" cy="255600"/>
          </a:xfrm>
          <a:prstGeom prst="roundRect">
            <a:avLst>
              <a:gd name="adj" fmla="val 17857"/>
            </a:avLst>
          </a:prstGeom>
          <a:solidFill>
            <a:srgbClr val="1e293b"/>
          </a:solidFill>
          <a:ln w="10160">
            <a:solidFill>
              <a:srgbClr val="00ff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1783080" y="4681800"/>
            <a:ext cx="1325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00ff88"/>
                </a:solidFill>
                <a:effectLst/>
                <a:uFillTx/>
                <a:latin typeface="Segoe UI"/>
                <a:ea typeface="Segoe UI"/>
              </a:rPr>
              <a:t>ACS712 x3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14"/>
          <p:cNvSpPr/>
          <p:nvPr/>
        </p:nvSpPr>
        <p:spPr>
          <a:xfrm>
            <a:off x="3246120" y="4681800"/>
            <a:ext cx="1325520" cy="255600"/>
          </a:xfrm>
          <a:prstGeom prst="roundRect">
            <a:avLst>
              <a:gd name="adj" fmla="val 17857"/>
            </a:avLst>
          </a:prstGeom>
          <a:solidFill>
            <a:srgbClr val="1e293b"/>
          </a:solidFill>
          <a:ln w="10160">
            <a:solidFill>
              <a:srgbClr val="00ff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5"/>
          <p:cNvSpPr/>
          <p:nvPr/>
        </p:nvSpPr>
        <p:spPr>
          <a:xfrm>
            <a:off x="3246120" y="4681800"/>
            <a:ext cx="1325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00ff88"/>
                </a:solidFill>
                <a:effectLst/>
                <a:uFillTx/>
                <a:latin typeface="Segoe UI"/>
                <a:ea typeface="Segoe UI"/>
              </a:rPr>
              <a:t>ZMPT101B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16"/>
          <p:cNvSpPr/>
          <p:nvPr/>
        </p:nvSpPr>
        <p:spPr>
          <a:xfrm>
            <a:off x="4709160" y="4681800"/>
            <a:ext cx="1325520" cy="255600"/>
          </a:xfrm>
          <a:prstGeom prst="roundRect">
            <a:avLst>
              <a:gd name="adj" fmla="val 17857"/>
            </a:avLst>
          </a:prstGeom>
          <a:solidFill>
            <a:srgbClr val="1e293b"/>
          </a:solidFill>
          <a:ln w="10160">
            <a:solidFill>
              <a:srgbClr val="00ff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7"/>
          <p:cNvSpPr/>
          <p:nvPr/>
        </p:nvSpPr>
        <p:spPr>
          <a:xfrm>
            <a:off x="4709160" y="4681800"/>
            <a:ext cx="1325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00ff88"/>
                </a:solidFill>
                <a:effectLst/>
                <a:uFillTx/>
                <a:latin typeface="Segoe UI"/>
                <a:ea typeface="Segoe UI"/>
              </a:rPr>
              <a:t>HC-SR04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8"/>
          <p:cNvSpPr/>
          <p:nvPr/>
        </p:nvSpPr>
        <p:spPr>
          <a:xfrm>
            <a:off x="6172200" y="4681800"/>
            <a:ext cx="1325520" cy="255600"/>
          </a:xfrm>
          <a:prstGeom prst="roundRect">
            <a:avLst>
              <a:gd name="adj" fmla="val 17857"/>
            </a:avLst>
          </a:prstGeom>
          <a:solidFill>
            <a:srgbClr val="1e293b"/>
          </a:solidFill>
          <a:ln w="10160">
            <a:solidFill>
              <a:srgbClr val="00ff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9"/>
          <p:cNvSpPr/>
          <p:nvPr/>
        </p:nvSpPr>
        <p:spPr>
          <a:xfrm>
            <a:off x="6172200" y="4681800"/>
            <a:ext cx="1325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00ff88"/>
                </a:solidFill>
                <a:effectLst/>
                <a:uFillTx/>
                <a:latin typeface="Segoe UI"/>
                <a:ea typeface="Segoe UI"/>
              </a:rPr>
              <a:t>I2C LCD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20"/>
          <p:cNvSpPr/>
          <p:nvPr/>
        </p:nvSpPr>
        <p:spPr>
          <a:xfrm>
            <a:off x="7635240" y="4681800"/>
            <a:ext cx="1325520" cy="255600"/>
          </a:xfrm>
          <a:prstGeom prst="roundRect">
            <a:avLst>
              <a:gd name="adj" fmla="val 17857"/>
            </a:avLst>
          </a:prstGeom>
          <a:solidFill>
            <a:srgbClr val="1e293b"/>
          </a:solidFill>
          <a:ln w="10160">
            <a:solidFill>
              <a:srgbClr val="00ff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21"/>
          <p:cNvSpPr/>
          <p:nvPr/>
        </p:nvSpPr>
        <p:spPr>
          <a:xfrm>
            <a:off x="7635240" y="4681800"/>
            <a:ext cx="1325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00ff88"/>
                </a:solidFill>
                <a:effectLst/>
                <a:uFillTx/>
                <a:latin typeface="Segoe UI"/>
                <a:ea typeface="Segoe UI"/>
              </a:rPr>
              <a:t>WiFi Dashboard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"/>
          <p:cNvSpPr/>
          <p:nvPr/>
        </p:nvSpPr>
        <p:spPr>
          <a:xfrm>
            <a:off x="411480" y="255960"/>
            <a:ext cx="8320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00e5ff"/>
                </a:solidFill>
                <a:effectLst/>
                <a:uFillTx/>
                <a:latin typeface="Segoe UI"/>
                <a:ea typeface="Segoe UI"/>
              </a:rPr>
              <a:t>Contents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2"/>
          <p:cNvSpPr/>
          <p:nvPr/>
        </p:nvSpPr>
        <p:spPr>
          <a:xfrm>
            <a:off x="411480" y="804600"/>
            <a:ext cx="36360" cy="38401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3"/>
          <p:cNvSpPr/>
          <p:nvPr/>
        </p:nvSpPr>
        <p:spPr>
          <a:xfrm>
            <a:off x="548640" y="8413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00e5ff"/>
                </a:solidFill>
                <a:effectLst/>
                <a:uFillTx/>
                <a:latin typeface="Segoe UI"/>
                <a:ea typeface="Segoe UI"/>
              </a:rPr>
              <a:t>01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4"/>
          <p:cNvSpPr/>
          <p:nvPr/>
        </p:nvSpPr>
        <p:spPr>
          <a:xfrm>
            <a:off x="960120" y="868680"/>
            <a:ext cx="3474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Abstract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5"/>
          <p:cNvSpPr/>
          <p:nvPr/>
        </p:nvSpPr>
        <p:spPr>
          <a:xfrm>
            <a:off x="548640" y="13626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00e5ff"/>
                </a:solidFill>
                <a:effectLst/>
                <a:uFillTx/>
                <a:latin typeface="Segoe UI"/>
                <a:ea typeface="Segoe UI"/>
              </a:rPr>
              <a:t>02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6"/>
          <p:cNvSpPr/>
          <p:nvPr/>
        </p:nvSpPr>
        <p:spPr>
          <a:xfrm>
            <a:off x="960120" y="1389960"/>
            <a:ext cx="3474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Introduction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7"/>
          <p:cNvSpPr/>
          <p:nvPr/>
        </p:nvSpPr>
        <p:spPr>
          <a:xfrm>
            <a:off x="548640" y="18835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00e5ff"/>
                </a:solidFill>
                <a:effectLst/>
                <a:uFillTx/>
                <a:latin typeface="Segoe UI"/>
                <a:ea typeface="Segoe UI"/>
              </a:rPr>
              <a:t>03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8"/>
          <p:cNvSpPr/>
          <p:nvPr/>
        </p:nvSpPr>
        <p:spPr>
          <a:xfrm>
            <a:off x="960120" y="1911240"/>
            <a:ext cx="3474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Problem Statement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9"/>
          <p:cNvSpPr/>
          <p:nvPr/>
        </p:nvSpPr>
        <p:spPr>
          <a:xfrm>
            <a:off x="548640" y="24048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00e5ff"/>
                </a:solidFill>
                <a:effectLst/>
                <a:uFillTx/>
                <a:latin typeface="Segoe UI"/>
                <a:ea typeface="Segoe UI"/>
              </a:rPr>
              <a:t>04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0"/>
          <p:cNvSpPr/>
          <p:nvPr/>
        </p:nvSpPr>
        <p:spPr>
          <a:xfrm>
            <a:off x="960120" y="2432160"/>
            <a:ext cx="3474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Motivation / Research Gap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1"/>
          <p:cNvSpPr/>
          <p:nvPr/>
        </p:nvSpPr>
        <p:spPr>
          <a:xfrm>
            <a:off x="548640" y="292608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00e5ff"/>
                </a:solidFill>
                <a:effectLst/>
                <a:uFillTx/>
                <a:latin typeface="Segoe UI"/>
                <a:ea typeface="Segoe UI"/>
              </a:rPr>
              <a:t>05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2"/>
          <p:cNvSpPr/>
          <p:nvPr/>
        </p:nvSpPr>
        <p:spPr>
          <a:xfrm>
            <a:off x="960120" y="2953440"/>
            <a:ext cx="3474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Literature Survey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3"/>
          <p:cNvSpPr/>
          <p:nvPr/>
        </p:nvSpPr>
        <p:spPr>
          <a:xfrm>
            <a:off x="548640" y="344736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00e5ff"/>
                </a:solidFill>
                <a:effectLst/>
                <a:uFillTx/>
                <a:latin typeface="Segoe UI"/>
                <a:ea typeface="Segoe UI"/>
              </a:rPr>
              <a:t>06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4"/>
          <p:cNvSpPr/>
          <p:nvPr/>
        </p:nvSpPr>
        <p:spPr>
          <a:xfrm>
            <a:off x="960120" y="3474720"/>
            <a:ext cx="3474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Objectives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5"/>
          <p:cNvSpPr/>
          <p:nvPr/>
        </p:nvSpPr>
        <p:spPr>
          <a:xfrm>
            <a:off x="548640" y="39686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00e5ff"/>
                </a:solidFill>
                <a:effectLst/>
                <a:uFillTx/>
                <a:latin typeface="Segoe UI"/>
                <a:ea typeface="Segoe UI"/>
              </a:rPr>
              <a:t>07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6"/>
          <p:cNvSpPr/>
          <p:nvPr/>
        </p:nvSpPr>
        <p:spPr>
          <a:xfrm>
            <a:off x="960120" y="3996000"/>
            <a:ext cx="3474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System Design &amp; Methodology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7"/>
          <p:cNvSpPr/>
          <p:nvPr/>
        </p:nvSpPr>
        <p:spPr>
          <a:xfrm>
            <a:off x="4846320" y="8413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00e5ff"/>
                </a:solidFill>
                <a:effectLst/>
                <a:uFillTx/>
                <a:latin typeface="Segoe UI"/>
                <a:ea typeface="Segoe UI"/>
              </a:rPr>
              <a:t>08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8"/>
          <p:cNvSpPr/>
          <p:nvPr/>
        </p:nvSpPr>
        <p:spPr>
          <a:xfrm>
            <a:off x="5257800" y="868680"/>
            <a:ext cx="3474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Fault Discrimination Algorithm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9"/>
          <p:cNvSpPr/>
          <p:nvPr/>
        </p:nvSpPr>
        <p:spPr>
          <a:xfrm>
            <a:off x="4846320" y="13626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00e5ff"/>
                </a:solidFill>
                <a:effectLst/>
                <a:uFillTx/>
                <a:latin typeface="Segoe UI"/>
                <a:ea typeface="Segoe UI"/>
              </a:rPr>
              <a:t>09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20"/>
          <p:cNvSpPr/>
          <p:nvPr/>
        </p:nvSpPr>
        <p:spPr>
          <a:xfrm>
            <a:off x="5257800" y="1389960"/>
            <a:ext cx="3474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System Operation Flowchart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21"/>
          <p:cNvSpPr/>
          <p:nvPr/>
        </p:nvSpPr>
        <p:spPr>
          <a:xfrm>
            <a:off x="4846320" y="18835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00e5ff"/>
                </a:solidFill>
                <a:effectLst/>
                <a:uFillTx/>
                <a:latin typeface="Segoe UI"/>
                <a:ea typeface="Segoe UI"/>
              </a:rPr>
              <a:t>10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22"/>
          <p:cNvSpPr/>
          <p:nvPr/>
        </p:nvSpPr>
        <p:spPr>
          <a:xfrm>
            <a:off x="5257800" y="1911240"/>
            <a:ext cx="3474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Hardware &amp; Software Description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23"/>
          <p:cNvSpPr/>
          <p:nvPr/>
        </p:nvSpPr>
        <p:spPr>
          <a:xfrm>
            <a:off x="4846320" y="24048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00e5ff"/>
                </a:solidFill>
                <a:effectLst/>
                <a:uFillTx/>
                <a:latin typeface="Segoe UI"/>
                <a:ea typeface="Segoe UI"/>
              </a:rPr>
              <a:t>11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24"/>
          <p:cNvSpPr/>
          <p:nvPr/>
        </p:nvSpPr>
        <p:spPr>
          <a:xfrm>
            <a:off x="5257800" y="2432160"/>
            <a:ext cx="3474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Results &amp; Discussion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25"/>
          <p:cNvSpPr/>
          <p:nvPr/>
        </p:nvSpPr>
        <p:spPr>
          <a:xfrm>
            <a:off x="4846320" y="292608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00e5ff"/>
                </a:solidFill>
                <a:effectLst/>
                <a:uFillTx/>
                <a:latin typeface="Segoe UI"/>
                <a:ea typeface="Segoe UI"/>
              </a:rPr>
              <a:t>12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26"/>
          <p:cNvSpPr/>
          <p:nvPr/>
        </p:nvSpPr>
        <p:spPr>
          <a:xfrm>
            <a:off x="5257800" y="2953440"/>
            <a:ext cx="3474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Conclusion &amp; Future Scope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27"/>
          <p:cNvSpPr/>
          <p:nvPr/>
        </p:nvSpPr>
        <p:spPr>
          <a:xfrm>
            <a:off x="4846320" y="344736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00e5ff"/>
                </a:solidFill>
                <a:effectLst/>
                <a:uFillTx/>
                <a:latin typeface="Segoe UI"/>
                <a:ea typeface="Segoe UI"/>
              </a:rPr>
              <a:t>13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28"/>
          <p:cNvSpPr/>
          <p:nvPr/>
        </p:nvSpPr>
        <p:spPr>
          <a:xfrm>
            <a:off x="5257800" y="3474720"/>
            <a:ext cx="3474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References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29"/>
          <p:cNvSpPr/>
          <p:nvPr/>
        </p:nvSpPr>
        <p:spPr>
          <a:xfrm>
            <a:off x="0" y="4773240"/>
            <a:ext cx="9143640" cy="365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30"/>
          <p:cNvSpPr/>
          <p:nvPr/>
        </p:nvSpPr>
        <p:spPr>
          <a:xfrm>
            <a:off x="274320" y="479160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0" u="none" strike="noStrike">
                <a:solidFill>
                  <a:srgbClr val="94a3b8"/>
                </a:solidFill>
                <a:effectLst/>
                <a:uFillTx/>
                <a:latin typeface="Segoe UI"/>
                <a:ea typeface="Segoe UI"/>
              </a:rPr>
              <a:t>AquaGuard AI  |  Smart Borewell Motor Protection System  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31"/>
          <p:cNvSpPr/>
          <p:nvPr/>
        </p:nvSpPr>
        <p:spPr>
          <a:xfrm>
            <a:off x="8686800" y="479160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0" u="none" strike="noStrike">
                <a:solidFill>
                  <a:srgbClr val="00e5ff"/>
                </a:solidFill>
                <a:effectLst/>
                <a:uFillTx/>
                <a:latin typeface="Segoe UI"/>
                <a:ea typeface="Segoe UI"/>
              </a:rPr>
              <a:t>2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"/>
          <p:cNvSpPr/>
          <p:nvPr/>
        </p:nvSpPr>
        <p:spPr>
          <a:xfrm>
            <a:off x="411480" y="255960"/>
            <a:ext cx="8320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00e5ff"/>
                </a:solidFill>
                <a:effectLst/>
                <a:uFillTx/>
                <a:latin typeface="Segoe UI"/>
                <a:ea typeface="Segoe UI"/>
              </a:rPr>
              <a:t>Abstract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2"/>
          <p:cNvSpPr/>
          <p:nvPr/>
        </p:nvSpPr>
        <p:spPr>
          <a:xfrm>
            <a:off x="411480" y="841320"/>
            <a:ext cx="8320680" cy="3748680"/>
          </a:xfrm>
          <a:prstGeom prst="roundRect">
            <a:avLst>
              <a:gd name="adj" fmla="val 1951"/>
            </a:avLst>
          </a:prstGeom>
          <a:solidFill>
            <a:srgbClr val="111827"/>
          </a:solidFill>
          <a:ln w="635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3"/>
          <p:cNvSpPr/>
          <p:nvPr/>
        </p:nvSpPr>
        <p:spPr>
          <a:xfrm>
            <a:off x="640080" y="960120"/>
            <a:ext cx="786348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rIns="76320" tIns="76320" bIns="763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AquaGuard AI is an ESP32-based smart borewell monitoring and motor protection system for 415V three-phase induction motors. Three ACS712 current sensors and a ZMPT101B voltage sensor continuously compute phase-wise RMS current and voltage, applying adaptive thresholds and Trip Delay Logic to distinguish genuine faults from normal startup inrush transients — preventing nuisance tripping.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An HC-SR04 ultrasonic sensor provides real-time water level monitoring for dry-run prevention and borewell recovery tracking. On fault detection, a relay-driven contactor disconnects the motor; the system automatically restarts once conditions stabilise for 30 seconds, with repeated failures triggering a safety lockout.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Status is displayed locally on a 16×2 I2C LCD with buzzer alerts, and remotely via a WiFi cloud dashboard or offline hotspot at 192.168.4.1 (SSID: AquaGuard_AI). This solution provides Indian farmers with a low-cost, intelligent platform protecting borewell motors and conserving water.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4"/>
          <p:cNvSpPr/>
          <p:nvPr/>
        </p:nvSpPr>
        <p:spPr>
          <a:xfrm>
            <a:off x="411480" y="4370760"/>
            <a:ext cx="1572480" cy="237240"/>
          </a:xfrm>
          <a:prstGeom prst="roundRect">
            <a:avLst>
              <a:gd name="adj" fmla="val 19231"/>
            </a:avLst>
          </a:prstGeom>
          <a:solidFill>
            <a:srgbClr val="1e293b"/>
          </a:solidFill>
          <a:ln w="10160">
            <a:solidFill>
              <a:srgbClr val="00ff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5"/>
          <p:cNvSpPr/>
          <p:nvPr/>
        </p:nvSpPr>
        <p:spPr>
          <a:xfrm>
            <a:off x="411480" y="4370760"/>
            <a:ext cx="15724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1" u="none" strike="noStrike">
                <a:solidFill>
                  <a:srgbClr val="00ff88"/>
                </a:solidFill>
                <a:effectLst/>
                <a:uFillTx/>
                <a:latin typeface="Segoe UI"/>
                <a:ea typeface="Segoe UI"/>
              </a:rPr>
              <a:t>Adaptive RMS Thresholds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6"/>
          <p:cNvSpPr/>
          <p:nvPr/>
        </p:nvSpPr>
        <p:spPr>
          <a:xfrm>
            <a:off x="2094120" y="4370760"/>
            <a:ext cx="1572480" cy="237240"/>
          </a:xfrm>
          <a:prstGeom prst="roundRect">
            <a:avLst>
              <a:gd name="adj" fmla="val 19231"/>
            </a:avLst>
          </a:prstGeom>
          <a:solidFill>
            <a:srgbClr val="1e293b"/>
          </a:solidFill>
          <a:ln w="10160">
            <a:solidFill>
              <a:srgbClr val="00ff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7"/>
          <p:cNvSpPr/>
          <p:nvPr/>
        </p:nvSpPr>
        <p:spPr>
          <a:xfrm>
            <a:off x="2094120" y="4370760"/>
            <a:ext cx="15724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1" u="none" strike="noStrike">
                <a:solidFill>
                  <a:srgbClr val="00ff88"/>
                </a:solidFill>
                <a:effectLst/>
                <a:uFillTx/>
                <a:latin typeface="Segoe UI"/>
                <a:ea typeface="Segoe UI"/>
              </a:rPr>
              <a:t>Trip Delay Logic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8"/>
          <p:cNvSpPr/>
          <p:nvPr/>
        </p:nvSpPr>
        <p:spPr>
          <a:xfrm>
            <a:off x="3776400" y="4370760"/>
            <a:ext cx="1572480" cy="237240"/>
          </a:xfrm>
          <a:prstGeom prst="roundRect">
            <a:avLst>
              <a:gd name="adj" fmla="val 19231"/>
            </a:avLst>
          </a:prstGeom>
          <a:solidFill>
            <a:srgbClr val="1e293b"/>
          </a:solidFill>
          <a:ln w="10160">
            <a:solidFill>
              <a:srgbClr val="00ff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9"/>
          <p:cNvSpPr/>
          <p:nvPr/>
        </p:nvSpPr>
        <p:spPr>
          <a:xfrm>
            <a:off x="3776400" y="4370760"/>
            <a:ext cx="15724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1" u="none" strike="noStrike">
                <a:solidFill>
                  <a:srgbClr val="00ff88"/>
                </a:solidFill>
                <a:effectLst/>
                <a:uFillTx/>
                <a:latin typeface="Segoe UI"/>
                <a:ea typeface="Segoe UI"/>
              </a:rPr>
              <a:t>Auto-Restart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10"/>
          <p:cNvSpPr/>
          <p:nvPr/>
        </p:nvSpPr>
        <p:spPr>
          <a:xfrm>
            <a:off x="5459040" y="4370760"/>
            <a:ext cx="1572480" cy="237240"/>
          </a:xfrm>
          <a:prstGeom prst="roundRect">
            <a:avLst>
              <a:gd name="adj" fmla="val 19231"/>
            </a:avLst>
          </a:prstGeom>
          <a:solidFill>
            <a:srgbClr val="1e293b"/>
          </a:solidFill>
          <a:ln w="10160">
            <a:solidFill>
              <a:srgbClr val="00ff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1"/>
          <p:cNvSpPr/>
          <p:nvPr/>
        </p:nvSpPr>
        <p:spPr>
          <a:xfrm>
            <a:off x="5459040" y="4370760"/>
            <a:ext cx="15724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1" u="none" strike="noStrike">
                <a:solidFill>
                  <a:srgbClr val="00ff88"/>
                </a:solidFill>
                <a:effectLst/>
                <a:uFillTx/>
                <a:latin typeface="Segoe UI"/>
                <a:ea typeface="Segoe UI"/>
              </a:rPr>
              <a:t>Water Level Monitoring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12"/>
          <p:cNvSpPr/>
          <p:nvPr/>
        </p:nvSpPr>
        <p:spPr>
          <a:xfrm>
            <a:off x="7141320" y="4370760"/>
            <a:ext cx="1572480" cy="237240"/>
          </a:xfrm>
          <a:prstGeom prst="roundRect">
            <a:avLst>
              <a:gd name="adj" fmla="val 19231"/>
            </a:avLst>
          </a:prstGeom>
          <a:solidFill>
            <a:srgbClr val="1e293b"/>
          </a:solidFill>
          <a:ln w="10160">
            <a:solidFill>
              <a:srgbClr val="00ff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3"/>
          <p:cNvSpPr/>
          <p:nvPr/>
        </p:nvSpPr>
        <p:spPr>
          <a:xfrm>
            <a:off x="7141320" y="4370760"/>
            <a:ext cx="15724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1" u="none" strike="noStrike">
                <a:solidFill>
                  <a:srgbClr val="00ff88"/>
                </a:solidFill>
                <a:effectLst/>
                <a:uFillTx/>
                <a:latin typeface="Segoe UI"/>
                <a:ea typeface="Segoe UI"/>
              </a:rPr>
              <a:t>Dual-Mode Connectivity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14"/>
          <p:cNvSpPr/>
          <p:nvPr/>
        </p:nvSpPr>
        <p:spPr>
          <a:xfrm>
            <a:off x="0" y="4773240"/>
            <a:ext cx="9143640" cy="365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5"/>
          <p:cNvSpPr/>
          <p:nvPr/>
        </p:nvSpPr>
        <p:spPr>
          <a:xfrm>
            <a:off x="274320" y="479160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0" u="none" strike="noStrike">
                <a:solidFill>
                  <a:srgbClr val="94a3b8"/>
                </a:solidFill>
                <a:effectLst/>
                <a:uFillTx/>
                <a:latin typeface="Segoe UI"/>
                <a:ea typeface="Segoe UI"/>
              </a:rPr>
              <a:t>AquaGuard AI  |  Smart Borewell Motor Protection System  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6"/>
          <p:cNvSpPr/>
          <p:nvPr/>
        </p:nvSpPr>
        <p:spPr>
          <a:xfrm>
            <a:off x="8686800" y="479160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0" u="none" strike="noStrike">
                <a:solidFill>
                  <a:srgbClr val="00e5ff"/>
                </a:solidFill>
                <a:effectLst/>
                <a:uFillTx/>
                <a:latin typeface="Segoe UI"/>
                <a:ea typeface="Segoe UI"/>
              </a:rPr>
              <a:t>3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"/>
          <p:cNvSpPr/>
          <p:nvPr/>
        </p:nvSpPr>
        <p:spPr>
          <a:xfrm>
            <a:off x="411480" y="255960"/>
            <a:ext cx="8320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00e5ff"/>
                </a:solidFill>
                <a:effectLst/>
                <a:uFillTx/>
                <a:latin typeface="Segoe UI"/>
                <a:ea typeface="Segoe UI"/>
              </a:rPr>
              <a:t>Introduction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2"/>
          <p:cNvSpPr/>
          <p:nvPr/>
        </p:nvSpPr>
        <p:spPr>
          <a:xfrm>
            <a:off x="411480" y="822960"/>
            <a:ext cx="8320680" cy="685440"/>
          </a:xfrm>
          <a:prstGeom prst="roundRect">
            <a:avLst>
              <a:gd name="adj" fmla="val 10667"/>
            </a:avLst>
          </a:prstGeom>
          <a:solidFill>
            <a:srgbClr val="111827"/>
          </a:solidFill>
          <a:ln w="635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3"/>
          <p:cNvSpPr/>
          <p:nvPr/>
        </p:nvSpPr>
        <p:spPr>
          <a:xfrm>
            <a:off x="685800" y="850320"/>
            <a:ext cx="786348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Three-phase induction motors power borewell and submersible pumps across rural India, but unstable rural power grids and lack of water-level visibility lead to motor burnout, dry-running, and water wastage.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4"/>
          <p:cNvSpPr/>
          <p:nvPr/>
        </p:nvSpPr>
        <p:spPr>
          <a:xfrm>
            <a:off x="411480" y="822960"/>
            <a:ext cx="54360" cy="68544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5"/>
          <p:cNvSpPr/>
          <p:nvPr/>
        </p:nvSpPr>
        <p:spPr>
          <a:xfrm>
            <a:off x="411480" y="1591200"/>
            <a:ext cx="8320680" cy="685440"/>
          </a:xfrm>
          <a:prstGeom prst="roundRect">
            <a:avLst>
              <a:gd name="adj" fmla="val 10667"/>
            </a:avLst>
          </a:prstGeom>
          <a:solidFill>
            <a:srgbClr val="0d1526"/>
          </a:solidFill>
          <a:ln w="635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6"/>
          <p:cNvSpPr/>
          <p:nvPr/>
        </p:nvSpPr>
        <p:spPr>
          <a:xfrm>
            <a:off x="685800" y="1618560"/>
            <a:ext cx="786348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AquaGuard AI combines an ESP32-based water level and motor health monitoring system with an intelligent multi-layered fault discrimination algorithm for three-phase motor protection.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7"/>
          <p:cNvSpPr/>
          <p:nvPr/>
        </p:nvSpPr>
        <p:spPr>
          <a:xfrm>
            <a:off x="411480" y="1591200"/>
            <a:ext cx="54360" cy="68544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8"/>
          <p:cNvSpPr/>
          <p:nvPr/>
        </p:nvSpPr>
        <p:spPr>
          <a:xfrm>
            <a:off x="411480" y="2359080"/>
            <a:ext cx="8320680" cy="685440"/>
          </a:xfrm>
          <a:prstGeom prst="roundRect">
            <a:avLst>
              <a:gd name="adj" fmla="val 10667"/>
            </a:avLst>
          </a:prstGeom>
          <a:solidFill>
            <a:srgbClr val="111827"/>
          </a:solidFill>
          <a:ln w="635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9"/>
          <p:cNvSpPr/>
          <p:nvPr/>
        </p:nvSpPr>
        <p:spPr>
          <a:xfrm>
            <a:off x="685800" y="2386440"/>
            <a:ext cx="786348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Continuously measures phase currents (ACS712), supply voltage (ZMPT101B), and water level (HC-SR04) to protect against phase loss, overload, dry-run, under-voltage, and over-voltage conditions.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10"/>
          <p:cNvSpPr/>
          <p:nvPr/>
        </p:nvSpPr>
        <p:spPr>
          <a:xfrm>
            <a:off x="411480" y="2359080"/>
            <a:ext cx="54360" cy="68544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11"/>
          <p:cNvSpPr/>
          <p:nvPr/>
        </p:nvSpPr>
        <p:spPr>
          <a:xfrm>
            <a:off x="411480" y="3127320"/>
            <a:ext cx="8320680" cy="685440"/>
          </a:xfrm>
          <a:prstGeom prst="roundRect">
            <a:avLst>
              <a:gd name="adj" fmla="val 10667"/>
            </a:avLst>
          </a:prstGeom>
          <a:solidFill>
            <a:srgbClr val="0d1526"/>
          </a:solidFill>
          <a:ln w="635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2"/>
          <p:cNvSpPr/>
          <p:nvPr/>
        </p:nvSpPr>
        <p:spPr>
          <a:xfrm>
            <a:off x="685800" y="3154680"/>
            <a:ext cx="786348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Conventional approaches using single-function relays or fixed-threshold microcontrollers cannot adapt to startup inrush transients, cause nuisance tripping, and provide no water-level visibility or remote access.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13"/>
          <p:cNvSpPr/>
          <p:nvPr/>
        </p:nvSpPr>
        <p:spPr>
          <a:xfrm>
            <a:off x="411480" y="3127320"/>
            <a:ext cx="54360" cy="68544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14"/>
          <p:cNvSpPr/>
          <p:nvPr/>
        </p:nvSpPr>
        <p:spPr>
          <a:xfrm>
            <a:off x="411480" y="3895200"/>
            <a:ext cx="8320680" cy="685440"/>
          </a:xfrm>
          <a:prstGeom prst="roundRect">
            <a:avLst>
              <a:gd name="adj" fmla="val 10667"/>
            </a:avLst>
          </a:prstGeom>
          <a:solidFill>
            <a:srgbClr val="111827"/>
          </a:solidFill>
          <a:ln w="635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5"/>
          <p:cNvSpPr/>
          <p:nvPr/>
        </p:nvSpPr>
        <p:spPr>
          <a:xfrm>
            <a:off x="685800" y="3922920"/>
            <a:ext cx="786348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AquaGuard AI directly addresses these gaps by providing an integrated, adaptive, and remotely accessible protection and monitoring platform tailored to Indian agricultural users.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16"/>
          <p:cNvSpPr/>
          <p:nvPr/>
        </p:nvSpPr>
        <p:spPr>
          <a:xfrm>
            <a:off x="411480" y="3895200"/>
            <a:ext cx="54360" cy="68544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17"/>
          <p:cNvSpPr/>
          <p:nvPr/>
        </p:nvSpPr>
        <p:spPr>
          <a:xfrm>
            <a:off x="0" y="4773240"/>
            <a:ext cx="9143640" cy="365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8"/>
          <p:cNvSpPr/>
          <p:nvPr/>
        </p:nvSpPr>
        <p:spPr>
          <a:xfrm>
            <a:off x="274320" y="479160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0" u="none" strike="noStrike">
                <a:solidFill>
                  <a:srgbClr val="94a3b8"/>
                </a:solidFill>
                <a:effectLst/>
                <a:uFillTx/>
                <a:latin typeface="Segoe UI"/>
                <a:ea typeface="Segoe UI"/>
              </a:rPr>
              <a:t>AquaGuard AI  |  Smart Borewell Motor Protection System  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9"/>
          <p:cNvSpPr/>
          <p:nvPr/>
        </p:nvSpPr>
        <p:spPr>
          <a:xfrm>
            <a:off x="8686800" y="479160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0" u="none" strike="noStrike">
                <a:solidFill>
                  <a:srgbClr val="00e5ff"/>
                </a:solidFill>
                <a:effectLst/>
                <a:uFillTx/>
                <a:latin typeface="Segoe UI"/>
                <a:ea typeface="Segoe UI"/>
              </a:rPr>
              <a:t>4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"/>
          <p:cNvSpPr/>
          <p:nvPr/>
        </p:nvSpPr>
        <p:spPr>
          <a:xfrm>
            <a:off x="411480" y="255960"/>
            <a:ext cx="8320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00e5ff"/>
                </a:solidFill>
                <a:effectLst/>
                <a:uFillTx/>
                <a:latin typeface="Segoe UI"/>
                <a:ea typeface="Segoe UI"/>
              </a:rPr>
              <a:t>Problem Statement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2"/>
          <p:cNvSpPr/>
          <p:nvPr/>
        </p:nvSpPr>
        <p:spPr>
          <a:xfrm>
            <a:off x="411480" y="822960"/>
            <a:ext cx="4068720" cy="1782720"/>
          </a:xfrm>
          <a:prstGeom prst="roundRect">
            <a:avLst>
              <a:gd name="adj" fmla="val 4103"/>
            </a:avLst>
          </a:prstGeom>
          <a:solidFill>
            <a:srgbClr val="111827"/>
          </a:solidFill>
          <a:ln w="635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3"/>
          <p:cNvSpPr/>
          <p:nvPr/>
        </p:nvSpPr>
        <p:spPr>
          <a:xfrm>
            <a:off x="411480" y="822960"/>
            <a:ext cx="4068720" cy="54360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4"/>
          <p:cNvSpPr/>
          <p:nvPr/>
        </p:nvSpPr>
        <p:spPr>
          <a:xfrm>
            <a:off x="548640" y="98748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f4444"/>
                </a:solidFill>
                <a:effectLst/>
                <a:uFillTx/>
                <a:latin typeface="Segoe UI"/>
                <a:ea typeface="Segoe UI"/>
              </a:rPr>
              <a:t>01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5"/>
          <p:cNvSpPr/>
          <p:nvPr/>
        </p:nvSpPr>
        <p:spPr>
          <a:xfrm>
            <a:off x="1005840" y="987480"/>
            <a:ext cx="3291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4444"/>
                </a:solidFill>
                <a:effectLst/>
                <a:uFillTx/>
                <a:latin typeface="Segoe UI"/>
                <a:ea typeface="Segoe UI"/>
              </a:rPr>
              <a:t>Motor Vulnerability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6"/>
          <p:cNvSpPr/>
          <p:nvPr/>
        </p:nvSpPr>
        <p:spPr>
          <a:xfrm>
            <a:off x="548640" y="1417320"/>
            <a:ext cx="3794400" cy="10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94a3b8"/>
                </a:solidFill>
                <a:effectLst/>
                <a:uFillTx/>
                <a:latin typeface="Segoe UI"/>
                <a:ea typeface="Segoe UI"/>
              </a:rPr>
              <a:t>Rural power suffers frequent voltage fluctuations, phase loss, and overloads — causing overheating and insulation damage. Fixed-threshold relays cause nuisance tripping or miss genuine faults.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7"/>
          <p:cNvSpPr/>
          <p:nvPr/>
        </p:nvSpPr>
        <p:spPr>
          <a:xfrm>
            <a:off x="411480" y="2834640"/>
            <a:ext cx="4068720" cy="1782720"/>
          </a:xfrm>
          <a:prstGeom prst="roundRect">
            <a:avLst>
              <a:gd name="adj" fmla="val 4103"/>
            </a:avLst>
          </a:prstGeom>
          <a:solidFill>
            <a:srgbClr val="111827"/>
          </a:solidFill>
          <a:ln w="635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8"/>
          <p:cNvSpPr/>
          <p:nvPr/>
        </p:nvSpPr>
        <p:spPr>
          <a:xfrm>
            <a:off x="411480" y="2834640"/>
            <a:ext cx="4068720" cy="5436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9"/>
          <p:cNvSpPr/>
          <p:nvPr/>
        </p:nvSpPr>
        <p:spPr>
          <a:xfrm>
            <a:off x="548640" y="299916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fb300"/>
                </a:solidFill>
                <a:effectLst/>
                <a:uFillTx/>
                <a:latin typeface="Segoe UI"/>
                <a:ea typeface="Segoe UI"/>
              </a:rPr>
              <a:t>02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0"/>
          <p:cNvSpPr/>
          <p:nvPr/>
        </p:nvSpPr>
        <p:spPr>
          <a:xfrm>
            <a:off x="1005840" y="2999160"/>
            <a:ext cx="3291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b300"/>
                </a:solidFill>
                <a:effectLst/>
                <a:uFillTx/>
                <a:latin typeface="Segoe UI"/>
                <a:ea typeface="Segoe UI"/>
              </a:rPr>
              <a:t>Dry-Run Risk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1"/>
          <p:cNvSpPr/>
          <p:nvPr/>
        </p:nvSpPr>
        <p:spPr>
          <a:xfrm>
            <a:off x="548640" y="3429000"/>
            <a:ext cx="3794400" cy="10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94a3b8"/>
                </a:solidFill>
                <a:effectLst/>
                <a:uFillTx/>
                <a:latin typeface="Segoe UI"/>
                <a:ea typeface="Segoe UI"/>
              </a:rPr>
              <a:t>Submersible pumps run dry due to no borewell water-level visibility, causing severe pump and winding damage. No low-cost system integrates water intelligence with motor protection.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12"/>
          <p:cNvSpPr/>
          <p:nvPr/>
        </p:nvSpPr>
        <p:spPr>
          <a:xfrm>
            <a:off x="4617720" y="822960"/>
            <a:ext cx="4068720" cy="1782720"/>
          </a:xfrm>
          <a:prstGeom prst="roundRect">
            <a:avLst>
              <a:gd name="adj" fmla="val 4103"/>
            </a:avLst>
          </a:prstGeom>
          <a:solidFill>
            <a:srgbClr val="111827"/>
          </a:solidFill>
          <a:ln w="635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13"/>
          <p:cNvSpPr/>
          <p:nvPr/>
        </p:nvSpPr>
        <p:spPr>
          <a:xfrm>
            <a:off x="4617720" y="822960"/>
            <a:ext cx="4068720" cy="5436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4"/>
          <p:cNvSpPr/>
          <p:nvPr/>
        </p:nvSpPr>
        <p:spPr>
          <a:xfrm>
            <a:off x="4754880" y="98748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00e5ff"/>
                </a:solidFill>
                <a:effectLst/>
                <a:uFillTx/>
                <a:latin typeface="Segoe UI"/>
                <a:ea typeface="Segoe UI"/>
              </a:rPr>
              <a:t>03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5"/>
          <p:cNvSpPr/>
          <p:nvPr/>
        </p:nvSpPr>
        <p:spPr>
          <a:xfrm>
            <a:off x="5212080" y="987480"/>
            <a:ext cx="3291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0e5ff"/>
                </a:solidFill>
                <a:effectLst/>
                <a:uFillTx/>
                <a:latin typeface="Segoe UI"/>
                <a:ea typeface="Segoe UI"/>
              </a:rPr>
              <a:t>No Remote Access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6"/>
          <p:cNvSpPr/>
          <p:nvPr/>
        </p:nvSpPr>
        <p:spPr>
          <a:xfrm>
            <a:off x="4754880" y="1417320"/>
            <a:ext cx="3794400" cy="10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94a3b8"/>
                </a:solidFill>
                <a:effectLst/>
                <a:uFillTx/>
                <a:latin typeface="Segoe UI"/>
                <a:ea typeface="Segoe UI"/>
              </a:rPr>
              <a:t>Farmers must be physically present to assess motor status — impractical in large farms. Most deployed systems offer no remote visibility or control.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17"/>
          <p:cNvSpPr/>
          <p:nvPr/>
        </p:nvSpPr>
        <p:spPr>
          <a:xfrm>
            <a:off x="4617720" y="2834640"/>
            <a:ext cx="4068720" cy="1782720"/>
          </a:xfrm>
          <a:prstGeom prst="roundRect">
            <a:avLst>
              <a:gd name="adj" fmla="val 4103"/>
            </a:avLst>
          </a:prstGeom>
          <a:solidFill>
            <a:srgbClr val="111827"/>
          </a:solidFill>
          <a:ln w="635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18"/>
          <p:cNvSpPr/>
          <p:nvPr/>
        </p:nvSpPr>
        <p:spPr>
          <a:xfrm>
            <a:off x="4617720" y="2834640"/>
            <a:ext cx="4068720" cy="5436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9"/>
          <p:cNvSpPr/>
          <p:nvPr/>
        </p:nvSpPr>
        <p:spPr>
          <a:xfrm>
            <a:off x="4754880" y="299916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00ff88"/>
                </a:solidFill>
                <a:effectLst/>
                <a:uFillTx/>
                <a:latin typeface="Segoe UI"/>
                <a:ea typeface="Segoe UI"/>
              </a:rPr>
              <a:t>04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20"/>
          <p:cNvSpPr/>
          <p:nvPr/>
        </p:nvSpPr>
        <p:spPr>
          <a:xfrm>
            <a:off x="5212080" y="2999160"/>
            <a:ext cx="3291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0ff88"/>
                </a:solidFill>
                <a:effectLst/>
                <a:uFillTx/>
                <a:latin typeface="Segoe UI"/>
                <a:ea typeface="Segoe UI"/>
              </a:rPr>
              <a:t>No Integrated Solution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21"/>
          <p:cNvSpPr/>
          <p:nvPr/>
        </p:nvSpPr>
        <p:spPr>
          <a:xfrm>
            <a:off x="4754880" y="3429000"/>
            <a:ext cx="3794400" cy="10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94a3b8"/>
                </a:solidFill>
                <a:effectLst/>
                <a:uFillTx/>
                <a:latin typeface="Segoe UI"/>
                <a:ea typeface="Segoe UI"/>
              </a:rPr>
              <a:t>Existing systems are motor-protection-only or water-monitoring-only. No affordable unified platform exists. SCADA systems cost lakhs and are impractical for small farms.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22"/>
          <p:cNvSpPr/>
          <p:nvPr/>
        </p:nvSpPr>
        <p:spPr>
          <a:xfrm>
            <a:off x="0" y="4773240"/>
            <a:ext cx="9143640" cy="365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23"/>
          <p:cNvSpPr/>
          <p:nvPr/>
        </p:nvSpPr>
        <p:spPr>
          <a:xfrm>
            <a:off x="274320" y="479160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0" u="none" strike="noStrike">
                <a:solidFill>
                  <a:srgbClr val="94a3b8"/>
                </a:solidFill>
                <a:effectLst/>
                <a:uFillTx/>
                <a:latin typeface="Segoe UI"/>
                <a:ea typeface="Segoe UI"/>
              </a:rPr>
              <a:t>AquaGuard AI  |  Smart Borewell Motor Protection System  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24"/>
          <p:cNvSpPr/>
          <p:nvPr/>
        </p:nvSpPr>
        <p:spPr>
          <a:xfrm>
            <a:off x="8686800" y="479160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0" u="none" strike="noStrike">
                <a:solidFill>
                  <a:srgbClr val="00e5ff"/>
                </a:solidFill>
                <a:effectLst/>
                <a:uFillTx/>
                <a:latin typeface="Segoe UI"/>
                <a:ea typeface="Segoe UI"/>
              </a:rPr>
              <a:t>5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"/>
          <p:cNvSpPr/>
          <p:nvPr/>
        </p:nvSpPr>
        <p:spPr>
          <a:xfrm>
            <a:off x="411480" y="255960"/>
            <a:ext cx="8320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00e5ff"/>
                </a:solidFill>
                <a:effectLst/>
                <a:uFillTx/>
                <a:latin typeface="Segoe UI"/>
                <a:ea typeface="Segoe UI"/>
              </a:rPr>
              <a:t>Literature Survey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2"/>
          <p:cNvSpPr/>
          <p:nvPr/>
        </p:nvSpPr>
        <p:spPr>
          <a:xfrm>
            <a:off x="411480" y="822960"/>
            <a:ext cx="8320680" cy="603000"/>
          </a:xfrm>
          <a:prstGeom prst="roundRect">
            <a:avLst>
              <a:gd name="adj" fmla="val 12121"/>
            </a:avLst>
          </a:prstGeom>
          <a:solidFill>
            <a:srgbClr val="111827"/>
          </a:solidFill>
          <a:ln w="635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3"/>
          <p:cNvSpPr/>
          <p:nvPr/>
        </p:nvSpPr>
        <p:spPr>
          <a:xfrm>
            <a:off x="548640" y="850320"/>
            <a:ext cx="19198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1" u="none" strike="noStrike">
                <a:solidFill>
                  <a:srgbClr val="00e5ff"/>
                </a:solidFill>
                <a:effectLst/>
                <a:uFillTx/>
                <a:latin typeface="Segoe UI"/>
                <a:ea typeface="Segoe UI"/>
              </a:rPr>
              <a:t>Singh &amp; Verma (2019)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4"/>
          <p:cNvSpPr/>
          <p:nvPr/>
        </p:nvSpPr>
        <p:spPr>
          <a:xfrm>
            <a:off x="2541960" y="887040"/>
            <a:ext cx="18000" cy="456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5"/>
          <p:cNvSpPr/>
          <p:nvPr/>
        </p:nvSpPr>
        <p:spPr>
          <a:xfrm>
            <a:off x="2633400" y="850320"/>
            <a:ext cx="59432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Relay-based single-fault protection — simple but cannot handle combined faults or startup inrush transients.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6"/>
          <p:cNvSpPr/>
          <p:nvPr/>
        </p:nvSpPr>
        <p:spPr>
          <a:xfrm>
            <a:off x="411480" y="1517760"/>
            <a:ext cx="8320680" cy="603000"/>
          </a:xfrm>
          <a:prstGeom prst="roundRect">
            <a:avLst>
              <a:gd name="adj" fmla="val 12121"/>
            </a:avLst>
          </a:prstGeom>
          <a:solidFill>
            <a:srgbClr val="111827"/>
          </a:solidFill>
          <a:ln w="635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7"/>
          <p:cNvSpPr/>
          <p:nvPr/>
        </p:nvSpPr>
        <p:spPr>
          <a:xfrm>
            <a:off x="548640" y="1545480"/>
            <a:ext cx="19198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1" u="none" strike="noStrike">
                <a:solidFill>
                  <a:srgbClr val="00e5ff"/>
                </a:solidFill>
                <a:effectLst/>
                <a:uFillTx/>
                <a:latin typeface="Segoe UI"/>
                <a:ea typeface="Segoe UI"/>
              </a:rPr>
              <a:t>Sharma et al. (2020)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8"/>
          <p:cNvSpPr/>
          <p:nvPr/>
        </p:nvSpPr>
        <p:spPr>
          <a:xfrm>
            <a:off x="2541960" y="1581840"/>
            <a:ext cx="18000" cy="456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9"/>
          <p:cNvSpPr/>
          <p:nvPr/>
        </p:nvSpPr>
        <p:spPr>
          <a:xfrm>
            <a:off x="2633400" y="1545480"/>
            <a:ext cx="59432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IoT water-level indicator — provides remote alerts but decoupled from motor protection; no automatic control.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10"/>
          <p:cNvSpPr/>
          <p:nvPr/>
        </p:nvSpPr>
        <p:spPr>
          <a:xfrm>
            <a:off x="411480" y="2212920"/>
            <a:ext cx="8320680" cy="603000"/>
          </a:xfrm>
          <a:prstGeom prst="roundRect">
            <a:avLst>
              <a:gd name="adj" fmla="val 12121"/>
            </a:avLst>
          </a:prstGeom>
          <a:solidFill>
            <a:srgbClr val="111827"/>
          </a:solidFill>
          <a:ln w="635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1"/>
          <p:cNvSpPr/>
          <p:nvPr/>
        </p:nvSpPr>
        <p:spPr>
          <a:xfrm>
            <a:off x="548640" y="2240280"/>
            <a:ext cx="19198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1" u="none" strike="noStrike">
                <a:solidFill>
                  <a:srgbClr val="00e5ff"/>
                </a:solidFill>
                <a:effectLst/>
                <a:uFillTx/>
                <a:latin typeface="Segoe UI"/>
                <a:ea typeface="Segoe UI"/>
              </a:rPr>
              <a:t>Kumar &amp; Reddy (2021)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12"/>
          <p:cNvSpPr/>
          <p:nvPr/>
        </p:nvSpPr>
        <p:spPr>
          <a:xfrm>
            <a:off x="2541960" y="2277000"/>
            <a:ext cx="18000" cy="456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3"/>
          <p:cNvSpPr/>
          <p:nvPr/>
        </p:nvSpPr>
        <p:spPr>
          <a:xfrm>
            <a:off x="2633400" y="2240280"/>
            <a:ext cx="59432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Voltage-based under/over protection — fast voltage-fault response but ignores phase current correlation.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14"/>
          <p:cNvSpPr/>
          <p:nvPr/>
        </p:nvSpPr>
        <p:spPr>
          <a:xfrm>
            <a:off x="411480" y="2907720"/>
            <a:ext cx="8320680" cy="603000"/>
          </a:xfrm>
          <a:prstGeom prst="roundRect">
            <a:avLst>
              <a:gd name="adj" fmla="val 12121"/>
            </a:avLst>
          </a:prstGeom>
          <a:solidFill>
            <a:srgbClr val="111827"/>
          </a:solidFill>
          <a:ln w="635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5"/>
          <p:cNvSpPr/>
          <p:nvPr/>
        </p:nvSpPr>
        <p:spPr>
          <a:xfrm>
            <a:off x="548640" y="2935080"/>
            <a:ext cx="19198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1" u="none" strike="noStrike">
                <a:solidFill>
                  <a:srgbClr val="00e5ff"/>
                </a:solidFill>
                <a:effectLst/>
                <a:uFillTx/>
                <a:latin typeface="Segoe UI"/>
                <a:ea typeface="Segoe UI"/>
              </a:rPr>
              <a:t>Patel et al. (2022)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16"/>
          <p:cNvSpPr/>
          <p:nvPr/>
        </p:nvSpPr>
        <p:spPr>
          <a:xfrm>
            <a:off x="2541960" y="2971800"/>
            <a:ext cx="18000" cy="456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7"/>
          <p:cNvSpPr/>
          <p:nvPr/>
        </p:nvSpPr>
        <p:spPr>
          <a:xfrm>
            <a:off x="2633400" y="2935080"/>
            <a:ext cx="59432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Microcontroller motor guard — low-cost single-fault protection but lacks adaptive RMS thresholding and dry-run detection.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18"/>
          <p:cNvSpPr/>
          <p:nvPr/>
        </p:nvSpPr>
        <p:spPr>
          <a:xfrm>
            <a:off x="411480" y="3602880"/>
            <a:ext cx="8320680" cy="603000"/>
          </a:xfrm>
          <a:prstGeom prst="roundRect">
            <a:avLst>
              <a:gd name="adj" fmla="val 12121"/>
            </a:avLst>
          </a:prstGeom>
          <a:solidFill>
            <a:srgbClr val="111827"/>
          </a:solidFill>
          <a:ln w="635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9"/>
          <p:cNvSpPr/>
          <p:nvPr/>
        </p:nvSpPr>
        <p:spPr>
          <a:xfrm>
            <a:off x="548640" y="3630240"/>
            <a:ext cx="19198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1" u="none" strike="noStrike">
                <a:solidFill>
                  <a:srgbClr val="00e5ff"/>
                </a:solidFill>
                <a:effectLst/>
                <a:uFillTx/>
                <a:latin typeface="Segoe UI"/>
                <a:ea typeface="Segoe UI"/>
              </a:rPr>
              <a:t>Rajan &amp; Nair (2023)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20"/>
          <p:cNvSpPr/>
          <p:nvPr/>
        </p:nvSpPr>
        <p:spPr>
          <a:xfrm>
            <a:off x="2541960" y="3666600"/>
            <a:ext cx="18000" cy="456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21"/>
          <p:cNvSpPr/>
          <p:nvPr/>
        </p:nvSpPr>
        <p:spPr>
          <a:xfrm>
            <a:off x="2633400" y="3630240"/>
            <a:ext cx="59432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IoT motor monitoring dashboard — improved visibility but no auto-restart, local fallback, or water-level integration.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22"/>
          <p:cNvSpPr/>
          <p:nvPr/>
        </p:nvSpPr>
        <p:spPr>
          <a:xfrm>
            <a:off x="411480" y="4316040"/>
            <a:ext cx="8320680" cy="402120"/>
          </a:xfrm>
          <a:prstGeom prst="roundRect">
            <a:avLst>
              <a:gd name="adj" fmla="val 18182"/>
            </a:avLst>
          </a:prstGeom>
          <a:solidFill>
            <a:srgbClr val="0d2a1a"/>
          </a:solidFill>
          <a:ln w="635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23"/>
          <p:cNvSpPr/>
          <p:nvPr/>
        </p:nvSpPr>
        <p:spPr>
          <a:xfrm>
            <a:off x="411480" y="4316040"/>
            <a:ext cx="8320680" cy="1800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24"/>
          <p:cNvSpPr/>
          <p:nvPr/>
        </p:nvSpPr>
        <p:spPr>
          <a:xfrm>
            <a:off x="567000" y="4352400"/>
            <a:ext cx="10969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00ff88"/>
                </a:solidFill>
                <a:effectLst/>
                <a:uFillTx/>
                <a:latin typeface="Segoe UI"/>
                <a:ea typeface="Segoe UI"/>
              </a:rPr>
              <a:t>Research Gap: 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25"/>
          <p:cNvSpPr/>
          <p:nvPr/>
        </p:nvSpPr>
        <p:spPr>
          <a:xfrm>
            <a:off x="1664280" y="4352400"/>
            <a:ext cx="6949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No existing system integrates phase-wise RMS discrimination, adaptive trip-delay, HC-SR04 water intelligence, auto-restart, and dual-mode connectivity in a single low-cost ESP32 platform. AquaGuard AI addresses this gap.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26"/>
          <p:cNvSpPr/>
          <p:nvPr/>
        </p:nvSpPr>
        <p:spPr>
          <a:xfrm>
            <a:off x="0" y="4773240"/>
            <a:ext cx="9143640" cy="365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27"/>
          <p:cNvSpPr/>
          <p:nvPr/>
        </p:nvSpPr>
        <p:spPr>
          <a:xfrm>
            <a:off x="274320" y="479160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0" u="none" strike="noStrike">
                <a:solidFill>
                  <a:srgbClr val="94a3b8"/>
                </a:solidFill>
                <a:effectLst/>
                <a:uFillTx/>
                <a:latin typeface="Segoe UI"/>
                <a:ea typeface="Segoe UI"/>
              </a:rPr>
              <a:t>AquaGuard AI  |  Smart Borewell Motor Protection System  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28"/>
          <p:cNvSpPr/>
          <p:nvPr/>
        </p:nvSpPr>
        <p:spPr>
          <a:xfrm>
            <a:off x="8686800" y="479160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0" u="none" strike="noStrike">
                <a:solidFill>
                  <a:srgbClr val="00e5ff"/>
                </a:solidFill>
                <a:effectLst/>
                <a:uFillTx/>
                <a:latin typeface="Segoe UI"/>
                <a:ea typeface="Segoe UI"/>
              </a:rPr>
              <a:t>6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1"/>
          <p:cNvSpPr/>
          <p:nvPr/>
        </p:nvSpPr>
        <p:spPr>
          <a:xfrm>
            <a:off x="411480" y="255960"/>
            <a:ext cx="8320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00e5ff"/>
                </a:solidFill>
                <a:effectLst/>
                <a:uFillTx/>
                <a:latin typeface="Segoe UI"/>
                <a:ea typeface="Segoe UI"/>
              </a:rPr>
              <a:t>Objectives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2"/>
          <p:cNvSpPr/>
          <p:nvPr/>
        </p:nvSpPr>
        <p:spPr>
          <a:xfrm>
            <a:off x="411480" y="822960"/>
            <a:ext cx="8320680" cy="566640"/>
          </a:xfrm>
          <a:prstGeom prst="roundRect">
            <a:avLst>
              <a:gd name="adj" fmla="val 12903"/>
            </a:avLst>
          </a:prstGeom>
          <a:solidFill>
            <a:srgbClr val="111827"/>
          </a:solidFill>
          <a:ln w="635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3"/>
          <p:cNvSpPr/>
          <p:nvPr/>
        </p:nvSpPr>
        <p:spPr>
          <a:xfrm>
            <a:off x="502920" y="850320"/>
            <a:ext cx="411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0e5ff"/>
                </a:solidFill>
                <a:effectLst/>
                <a:uFillTx/>
                <a:latin typeface="Segoe UI"/>
                <a:ea typeface="Segoe UI"/>
              </a:rPr>
              <a:t>01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4"/>
          <p:cNvSpPr/>
          <p:nvPr/>
        </p:nvSpPr>
        <p:spPr>
          <a:xfrm>
            <a:off x="1005840" y="850320"/>
            <a:ext cx="75891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Design an ESP32-based system that continuously monitors three-phase current, voltage, and borewell water level in real time.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5"/>
          <p:cNvSpPr/>
          <p:nvPr/>
        </p:nvSpPr>
        <p:spPr>
          <a:xfrm>
            <a:off x="411480" y="1481400"/>
            <a:ext cx="8320680" cy="566640"/>
          </a:xfrm>
          <a:prstGeom prst="roundRect">
            <a:avLst>
              <a:gd name="adj" fmla="val 12903"/>
            </a:avLst>
          </a:prstGeom>
          <a:solidFill>
            <a:srgbClr val="111827"/>
          </a:solidFill>
          <a:ln w="635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6"/>
          <p:cNvSpPr/>
          <p:nvPr/>
        </p:nvSpPr>
        <p:spPr>
          <a:xfrm>
            <a:off x="502920" y="1508760"/>
            <a:ext cx="411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0e5ff"/>
                </a:solidFill>
                <a:effectLst/>
                <a:uFillTx/>
                <a:latin typeface="Segoe UI"/>
                <a:ea typeface="Segoe UI"/>
              </a:rPr>
              <a:t>02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7"/>
          <p:cNvSpPr/>
          <p:nvPr/>
        </p:nvSpPr>
        <p:spPr>
          <a:xfrm>
            <a:off x="1005840" y="1508760"/>
            <a:ext cx="75891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Implement adaptive RMS-based fault discrimination distinguishing genuine faults (phase loss, overload, dry-run, under/over-voltage) from startup inrush transients.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8"/>
          <p:cNvSpPr/>
          <p:nvPr/>
        </p:nvSpPr>
        <p:spPr>
          <a:xfrm>
            <a:off x="411480" y="2139840"/>
            <a:ext cx="8320680" cy="566640"/>
          </a:xfrm>
          <a:prstGeom prst="roundRect">
            <a:avLst>
              <a:gd name="adj" fmla="val 12903"/>
            </a:avLst>
          </a:prstGeom>
          <a:solidFill>
            <a:srgbClr val="111827"/>
          </a:solidFill>
          <a:ln w="635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9"/>
          <p:cNvSpPr/>
          <p:nvPr/>
        </p:nvSpPr>
        <p:spPr>
          <a:xfrm>
            <a:off x="502920" y="2167200"/>
            <a:ext cx="411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0e5ff"/>
                </a:solidFill>
                <a:effectLst/>
                <a:uFillTx/>
                <a:latin typeface="Segoe UI"/>
                <a:ea typeface="Segoe UI"/>
              </a:rPr>
              <a:t>03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0"/>
          <p:cNvSpPr/>
          <p:nvPr/>
        </p:nvSpPr>
        <p:spPr>
          <a:xfrm>
            <a:off x="1005840" y="2167200"/>
            <a:ext cx="75891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Provide automatic conditional restart after fault clearance and grid stabilisation, with safety lockout for repeated faults.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11"/>
          <p:cNvSpPr/>
          <p:nvPr/>
        </p:nvSpPr>
        <p:spPr>
          <a:xfrm>
            <a:off x="411480" y="2797920"/>
            <a:ext cx="8320680" cy="566640"/>
          </a:xfrm>
          <a:prstGeom prst="roundRect">
            <a:avLst>
              <a:gd name="adj" fmla="val 12903"/>
            </a:avLst>
          </a:prstGeom>
          <a:solidFill>
            <a:srgbClr val="111827"/>
          </a:solidFill>
          <a:ln w="635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2"/>
          <p:cNvSpPr/>
          <p:nvPr/>
        </p:nvSpPr>
        <p:spPr>
          <a:xfrm>
            <a:off x="502920" y="2825640"/>
            <a:ext cx="411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0e5ff"/>
                </a:solidFill>
                <a:effectLst/>
                <a:uFillTx/>
                <a:latin typeface="Segoe UI"/>
                <a:ea typeface="Segoe UI"/>
              </a:rPr>
              <a:t>04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13"/>
          <p:cNvSpPr/>
          <p:nvPr/>
        </p:nvSpPr>
        <p:spPr>
          <a:xfrm>
            <a:off x="1005840" y="2825640"/>
            <a:ext cx="75891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Enable local monitoring through a 16×2 I2C LCD and buzzer, and remote monitoring via cloud and offline hotspot dashboard.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14"/>
          <p:cNvSpPr/>
          <p:nvPr/>
        </p:nvSpPr>
        <p:spPr>
          <a:xfrm>
            <a:off x="411480" y="3456360"/>
            <a:ext cx="8320680" cy="566640"/>
          </a:xfrm>
          <a:prstGeom prst="roundRect">
            <a:avLst>
              <a:gd name="adj" fmla="val 12903"/>
            </a:avLst>
          </a:prstGeom>
          <a:solidFill>
            <a:srgbClr val="111827"/>
          </a:solidFill>
          <a:ln w="635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15"/>
          <p:cNvSpPr/>
          <p:nvPr/>
        </p:nvSpPr>
        <p:spPr>
          <a:xfrm>
            <a:off x="502920" y="3483720"/>
            <a:ext cx="411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0e5ff"/>
                </a:solidFill>
                <a:effectLst/>
                <a:uFillTx/>
                <a:latin typeface="Segoe UI"/>
                <a:ea typeface="Segoe UI"/>
              </a:rPr>
              <a:t>05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16"/>
          <p:cNvSpPr/>
          <p:nvPr/>
        </p:nvSpPr>
        <p:spPr>
          <a:xfrm>
            <a:off x="1005840" y="3483720"/>
            <a:ext cx="75891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Deliver a low-cost, farmer-friendly solution protecting motor health and conserving water in agricultural irrigation systems.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17"/>
          <p:cNvSpPr/>
          <p:nvPr/>
        </p:nvSpPr>
        <p:spPr>
          <a:xfrm>
            <a:off x="411480" y="4114800"/>
            <a:ext cx="8320680" cy="566640"/>
          </a:xfrm>
          <a:prstGeom prst="roundRect">
            <a:avLst>
              <a:gd name="adj" fmla="val 12903"/>
            </a:avLst>
          </a:prstGeom>
          <a:solidFill>
            <a:srgbClr val="111827"/>
          </a:solidFill>
          <a:ln w="635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18"/>
          <p:cNvSpPr/>
          <p:nvPr/>
        </p:nvSpPr>
        <p:spPr>
          <a:xfrm>
            <a:off x="502920" y="4142160"/>
            <a:ext cx="411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0e5ff"/>
                </a:solidFill>
                <a:effectLst/>
                <a:uFillTx/>
                <a:latin typeface="Segoe UI"/>
                <a:ea typeface="Segoe UI"/>
              </a:rPr>
              <a:t>06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9"/>
          <p:cNvSpPr/>
          <p:nvPr/>
        </p:nvSpPr>
        <p:spPr>
          <a:xfrm>
            <a:off x="1005840" y="4142160"/>
            <a:ext cx="75891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Log fault events sequentially for maintenance planning and historical analysis.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20"/>
          <p:cNvSpPr/>
          <p:nvPr/>
        </p:nvSpPr>
        <p:spPr>
          <a:xfrm>
            <a:off x="0" y="4773240"/>
            <a:ext cx="9143640" cy="365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21"/>
          <p:cNvSpPr/>
          <p:nvPr/>
        </p:nvSpPr>
        <p:spPr>
          <a:xfrm>
            <a:off x="274320" y="479160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0" u="none" strike="noStrike">
                <a:solidFill>
                  <a:srgbClr val="94a3b8"/>
                </a:solidFill>
                <a:effectLst/>
                <a:uFillTx/>
                <a:latin typeface="Segoe UI"/>
                <a:ea typeface="Segoe UI"/>
              </a:rPr>
              <a:t>AquaGuard AI  |  Smart Borewell Motor Protection System  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22"/>
          <p:cNvSpPr/>
          <p:nvPr/>
        </p:nvSpPr>
        <p:spPr>
          <a:xfrm>
            <a:off x="8686800" y="479160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0" u="none" strike="noStrike">
                <a:solidFill>
                  <a:srgbClr val="00e5ff"/>
                </a:solidFill>
                <a:effectLst/>
                <a:uFillTx/>
                <a:latin typeface="Segoe UI"/>
                <a:ea typeface="Segoe UI"/>
              </a:rPr>
              <a:t>7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1"/>
          <p:cNvSpPr/>
          <p:nvPr/>
        </p:nvSpPr>
        <p:spPr>
          <a:xfrm>
            <a:off x="411480" y="255960"/>
            <a:ext cx="8320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00e5ff"/>
                </a:solidFill>
                <a:effectLst/>
                <a:uFillTx/>
                <a:latin typeface="Segoe UI"/>
                <a:ea typeface="Segoe UI"/>
              </a:rPr>
              <a:t>System Design &amp; Methodology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8" name="Image 0" descr="/home/claude/aq_unpacked/ppt/media/image2.png"/>
          <p:cNvPicPr/>
          <p:nvPr/>
        </p:nvPicPr>
        <p:blipFill>
          <a:blip r:embed="rId1"/>
          <a:stretch/>
        </p:blipFill>
        <p:spPr>
          <a:xfrm>
            <a:off x="4663440" y="804600"/>
            <a:ext cx="4023000" cy="3200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9" name="Text 2"/>
          <p:cNvSpPr/>
          <p:nvPr/>
        </p:nvSpPr>
        <p:spPr>
          <a:xfrm>
            <a:off x="411480" y="868680"/>
            <a:ext cx="1554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00e5ff"/>
                </a:solidFill>
                <a:effectLst/>
                <a:uFillTx/>
                <a:latin typeface="Segoe UI"/>
                <a:ea typeface="Segoe UI"/>
              </a:rPr>
              <a:t>Central Unit: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3"/>
          <p:cNvSpPr/>
          <p:nvPr/>
        </p:nvSpPr>
        <p:spPr>
          <a:xfrm>
            <a:off x="1993320" y="868680"/>
            <a:ext cx="25599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ESP32 DevKit V1 — 240 MHz dual-core, built-in WiFi, sensing + fault control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4"/>
          <p:cNvSpPr/>
          <p:nvPr/>
        </p:nvSpPr>
        <p:spPr>
          <a:xfrm>
            <a:off x="411480" y="1280160"/>
            <a:ext cx="4114440" cy="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6000" bIns="-36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5"/>
          <p:cNvSpPr/>
          <p:nvPr/>
        </p:nvSpPr>
        <p:spPr>
          <a:xfrm>
            <a:off x="411480" y="1371600"/>
            <a:ext cx="1554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00e5ff"/>
                </a:solidFill>
                <a:effectLst/>
                <a:uFillTx/>
                <a:latin typeface="Segoe UI"/>
                <a:ea typeface="Segoe UI"/>
              </a:rPr>
              <a:t>Current Sensing: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6"/>
          <p:cNvSpPr/>
          <p:nvPr/>
        </p:nvSpPr>
        <p:spPr>
          <a:xfrm>
            <a:off x="1993320" y="1371600"/>
            <a:ext cx="25599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3× ACS712 (20A) on R, Y, B phases — Hall-effect, 100 mV/A sensitivity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7"/>
          <p:cNvSpPr/>
          <p:nvPr/>
        </p:nvSpPr>
        <p:spPr>
          <a:xfrm>
            <a:off x="411480" y="1783080"/>
            <a:ext cx="4114440" cy="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6000" bIns="-36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8"/>
          <p:cNvSpPr/>
          <p:nvPr/>
        </p:nvSpPr>
        <p:spPr>
          <a:xfrm>
            <a:off x="411480" y="1874520"/>
            <a:ext cx="1554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00e5ff"/>
                </a:solidFill>
                <a:effectLst/>
                <a:uFillTx/>
                <a:latin typeface="Segoe UI"/>
                <a:ea typeface="Segoe UI"/>
              </a:rPr>
              <a:t>Voltage Sensing: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9"/>
          <p:cNvSpPr/>
          <p:nvPr/>
        </p:nvSpPr>
        <p:spPr>
          <a:xfrm>
            <a:off x="1993320" y="1874520"/>
            <a:ext cx="25599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ZMPT101B — isolated transformer, safe 0–3.3V analog output for ESP32 ADC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10"/>
          <p:cNvSpPr/>
          <p:nvPr/>
        </p:nvSpPr>
        <p:spPr>
          <a:xfrm>
            <a:off x="411480" y="2286000"/>
            <a:ext cx="4114440" cy="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6000" bIns="-36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11"/>
          <p:cNvSpPr/>
          <p:nvPr/>
        </p:nvSpPr>
        <p:spPr>
          <a:xfrm>
            <a:off x="411480" y="2377440"/>
            <a:ext cx="1554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00e5ff"/>
                </a:solidFill>
                <a:effectLst/>
                <a:uFillTx/>
                <a:latin typeface="Segoe UI"/>
                <a:ea typeface="Segoe UI"/>
              </a:rPr>
              <a:t>Water Level: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12"/>
          <p:cNvSpPr/>
          <p:nvPr/>
        </p:nvSpPr>
        <p:spPr>
          <a:xfrm>
            <a:off x="1993320" y="2377440"/>
            <a:ext cx="25599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HC-SR04 ultrasonic — measures distance to water; computes height, %, volume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13"/>
          <p:cNvSpPr/>
          <p:nvPr/>
        </p:nvSpPr>
        <p:spPr>
          <a:xfrm>
            <a:off x="411480" y="2788920"/>
            <a:ext cx="4114440" cy="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6000" bIns="-36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14"/>
          <p:cNvSpPr/>
          <p:nvPr/>
        </p:nvSpPr>
        <p:spPr>
          <a:xfrm>
            <a:off x="411480" y="2880360"/>
            <a:ext cx="1554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00e5ff"/>
                </a:solidFill>
                <a:effectLst/>
                <a:uFillTx/>
                <a:latin typeface="Segoe UI"/>
                <a:ea typeface="Segoe UI"/>
              </a:rPr>
              <a:t>Local Output: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15"/>
          <p:cNvSpPr/>
          <p:nvPr/>
        </p:nvSpPr>
        <p:spPr>
          <a:xfrm>
            <a:off x="1993320" y="2880360"/>
            <a:ext cx="25599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16×2 I2C LCD (3 rotating screens) + active buzzer for audible fault alerts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16"/>
          <p:cNvSpPr/>
          <p:nvPr/>
        </p:nvSpPr>
        <p:spPr>
          <a:xfrm>
            <a:off x="411480" y="3291840"/>
            <a:ext cx="4114440" cy="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6000" bIns="-36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17"/>
          <p:cNvSpPr/>
          <p:nvPr/>
        </p:nvSpPr>
        <p:spPr>
          <a:xfrm>
            <a:off x="411480" y="3383280"/>
            <a:ext cx="1554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00e5ff"/>
                </a:solidFill>
                <a:effectLst/>
                <a:uFillTx/>
                <a:latin typeface="Segoe UI"/>
                <a:ea typeface="Segoe UI"/>
              </a:rPr>
              <a:t>Motor Switch: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18"/>
          <p:cNvSpPr/>
          <p:nvPr/>
        </p:nvSpPr>
        <p:spPr>
          <a:xfrm>
            <a:off x="1993320" y="3383280"/>
            <a:ext cx="25599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Active-LOW relay + magnetic contactor for 415V three-phase isolation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19"/>
          <p:cNvSpPr/>
          <p:nvPr/>
        </p:nvSpPr>
        <p:spPr>
          <a:xfrm>
            <a:off x="411480" y="3794760"/>
            <a:ext cx="4114440" cy="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6000" bIns="-36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20"/>
          <p:cNvSpPr/>
          <p:nvPr/>
        </p:nvSpPr>
        <p:spPr>
          <a:xfrm>
            <a:off x="411480" y="3886200"/>
            <a:ext cx="1554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00e5ff"/>
                </a:solidFill>
                <a:effectLst/>
                <a:uFillTx/>
                <a:latin typeface="Segoe UI"/>
                <a:ea typeface="Segoe UI"/>
              </a:rPr>
              <a:t>Connectivity: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21"/>
          <p:cNvSpPr/>
          <p:nvPr/>
        </p:nvSpPr>
        <p:spPr>
          <a:xfrm>
            <a:off x="1993320" y="3886200"/>
            <a:ext cx="25599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WiFi cloud dashboard (primary) or AquaGuard_AI hotspot at 192.168.4.1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22"/>
          <p:cNvSpPr/>
          <p:nvPr/>
        </p:nvSpPr>
        <p:spPr>
          <a:xfrm>
            <a:off x="0" y="4773240"/>
            <a:ext cx="9143640" cy="365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23"/>
          <p:cNvSpPr/>
          <p:nvPr/>
        </p:nvSpPr>
        <p:spPr>
          <a:xfrm>
            <a:off x="274320" y="479160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0" u="none" strike="noStrike">
                <a:solidFill>
                  <a:srgbClr val="94a3b8"/>
                </a:solidFill>
                <a:effectLst/>
                <a:uFillTx/>
                <a:latin typeface="Segoe UI"/>
                <a:ea typeface="Segoe UI"/>
              </a:rPr>
              <a:t>AquaGuard AI  |  Smart Borewell Motor Protection System  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24"/>
          <p:cNvSpPr/>
          <p:nvPr/>
        </p:nvSpPr>
        <p:spPr>
          <a:xfrm>
            <a:off x="8686800" y="479160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0" u="none" strike="noStrike">
                <a:solidFill>
                  <a:srgbClr val="00e5ff"/>
                </a:solidFill>
                <a:effectLst/>
                <a:uFillTx/>
                <a:latin typeface="Segoe UI"/>
                <a:ea typeface="Segoe UI"/>
              </a:rPr>
              <a:t>8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1"/>
          <p:cNvSpPr/>
          <p:nvPr/>
        </p:nvSpPr>
        <p:spPr>
          <a:xfrm>
            <a:off x="411480" y="255960"/>
            <a:ext cx="8320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00e5ff"/>
                </a:solidFill>
                <a:effectLst/>
                <a:uFillTx/>
                <a:latin typeface="Segoe UI"/>
                <a:ea typeface="Segoe UI"/>
              </a:rPr>
              <a:t>Fault Discrimination Algorithm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4" name="Image 0" descr="/home/claude/aq_unpacked/ppt/media/image3.png"/>
          <p:cNvPicPr/>
          <p:nvPr/>
        </p:nvPicPr>
        <p:blipFill>
          <a:blip r:embed="rId1"/>
          <a:stretch/>
        </p:blipFill>
        <p:spPr>
          <a:xfrm>
            <a:off x="4709160" y="804600"/>
            <a:ext cx="3977280" cy="384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5" name="Text 2"/>
          <p:cNvSpPr/>
          <p:nvPr/>
        </p:nvSpPr>
        <p:spPr>
          <a:xfrm>
            <a:off x="411480" y="804600"/>
            <a:ext cx="4160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i="1" u="none" strike="noStrike">
                <a:solidFill>
                  <a:srgbClr val="94a3b8"/>
                </a:solidFill>
                <a:effectLst/>
                <a:uFillTx/>
                <a:latin typeface="Segoe UI"/>
                <a:ea typeface="Segoe UI"/>
              </a:rPr>
              <a:t>Priority Order → Evaluation Sequence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3"/>
          <p:cNvSpPr/>
          <p:nvPr/>
        </p:nvSpPr>
        <p:spPr>
          <a:xfrm>
            <a:off x="411480" y="1115640"/>
            <a:ext cx="4160160" cy="575640"/>
          </a:xfrm>
          <a:prstGeom prst="roundRect">
            <a:avLst>
              <a:gd name="adj" fmla="val 12698"/>
            </a:avLst>
          </a:prstGeom>
          <a:solidFill>
            <a:srgbClr val="111827"/>
          </a:solidFill>
          <a:ln w="635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4"/>
          <p:cNvSpPr/>
          <p:nvPr/>
        </p:nvSpPr>
        <p:spPr>
          <a:xfrm>
            <a:off x="411480" y="1115640"/>
            <a:ext cx="54360" cy="575640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5"/>
          <p:cNvSpPr/>
          <p:nvPr/>
        </p:nvSpPr>
        <p:spPr>
          <a:xfrm>
            <a:off x="548640" y="114300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4444"/>
                </a:solidFill>
                <a:effectLst/>
                <a:uFillTx/>
                <a:latin typeface="Segoe UI"/>
                <a:ea typeface="Segoe UI"/>
              </a:rPr>
              <a:t>1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6"/>
          <p:cNvSpPr/>
          <p:nvPr/>
        </p:nvSpPr>
        <p:spPr>
          <a:xfrm>
            <a:off x="868680" y="1134000"/>
            <a:ext cx="1828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4444"/>
                </a:solidFill>
                <a:effectLst/>
                <a:uFillTx/>
                <a:latin typeface="Segoe UI"/>
                <a:ea typeface="Segoe UI"/>
              </a:rPr>
              <a:t>Phase Loss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7"/>
          <p:cNvSpPr/>
          <p:nvPr/>
        </p:nvSpPr>
        <p:spPr>
          <a:xfrm>
            <a:off x="868680" y="1389960"/>
            <a:ext cx="22856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Segoe UI"/>
                <a:ea typeface="Segoe UI"/>
              </a:rPr>
              <a:t>Any phase I_RMS &lt; 0.4A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8"/>
          <p:cNvSpPr/>
          <p:nvPr/>
        </p:nvSpPr>
        <p:spPr>
          <a:xfrm>
            <a:off x="3090600" y="1170360"/>
            <a:ext cx="1325520" cy="255600"/>
          </a:xfrm>
          <a:prstGeom prst="roundRect">
            <a:avLst>
              <a:gd name="adj" fmla="val 17857"/>
            </a:avLst>
          </a:prstGeom>
          <a:solidFill>
            <a:srgbClr val="1e293b"/>
          </a:solidFill>
          <a:ln w="10160">
            <a:solidFill>
              <a:srgbClr val="f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9"/>
          <p:cNvSpPr/>
          <p:nvPr/>
        </p:nvSpPr>
        <p:spPr>
          <a:xfrm>
            <a:off x="3090600" y="1170360"/>
            <a:ext cx="1325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4444"/>
                </a:solidFill>
                <a:effectLst/>
                <a:uFillTx/>
                <a:latin typeface="Segoe UI"/>
                <a:ea typeface="Segoe UI"/>
              </a:rPr>
              <a:t>100 ms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10"/>
          <p:cNvSpPr/>
          <p:nvPr/>
        </p:nvSpPr>
        <p:spPr>
          <a:xfrm>
            <a:off x="411480" y="1783080"/>
            <a:ext cx="4160160" cy="575640"/>
          </a:xfrm>
          <a:prstGeom prst="roundRect">
            <a:avLst>
              <a:gd name="adj" fmla="val 12698"/>
            </a:avLst>
          </a:prstGeom>
          <a:solidFill>
            <a:srgbClr val="111827"/>
          </a:solidFill>
          <a:ln w="635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11"/>
          <p:cNvSpPr/>
          <p:nvPr/>
        </p:nvSpPr>
        <p:spPr>
          <a:xfrm>
            <a:off x="411480" y="1783080"/>
            <a:ext cx="54360" cy="57564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12"/>
          <p:cNvSpPr/>
          <p:nvPr/>
        </p:nvSpPr>
        <p:spPr>
          <a:xfrm>
            <a:off x="548640" y="181044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b300"/>
                </a:solidFill>
                <a:effectLst/>
                <a:uFillTx/>
                <a:latin typeface="Segoe UI"/>
                <a:ea typeface="Segoe UI"/>
              </a:rPr>
              <a:t>2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13"/>
          <p:cNvSpPr/>
          <p:nvPr/>
        </p:nvSpPr>
        <p:spPr>
          <a:xfrm>
            <a:off x="868680" y="1801440"/>
            <a:ext cx="1828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b300"/>
                </a:solidFill>
                <a:effectLst/>
                <a:uFillTx/>
                <a:latin typeface="Segoe UI"/>
                <a:ea typeface="Segoe UI"/>
              </a:rPr>
              <a:t>Over-Voltage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14"/>
          <p:cNvSpPr/>
          <p:nvPr/>
        </p:nvSpPr>
        <p:spPr>
          <a:xfrm>
            <a:off x="868680" y="2057400"/>
            <a:ext cx="22856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Segoe UI"/>
                <a:ea typeface="Segoe UI"/>
              </a:rPr>
              <a:t>V_RMS &gt; 270V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15"/>
          <p:cNvSpPr/>
          <p:nvPr/>
        </p:nvSpPr>
        <p:spPr>
          <a:xfrm>
            <a:off x="3090600" y="1837800"/>
            <a:ext cx="1325520" cy="255600"/>
          </a:xfrm>
          <a:prstGeom prst="roundRect">
            <a:avLst>
              <a:gd name="adj" fmla="val 17857"/>
            </a:avLst>
          </a:prstGeom>
          <a:solidFill>
            <a:srgbClr val="1e293b"/>
          </a:solidFill>
          <a:ln w="10160">
            <a:solidFill>
              <a:srgbClr val="ffb3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16"/>
          <p:cNvSpPr/>
          <p:nvPr/>
        </p:nvSpPr>
        <p:spPr>
          <a:xfrm>
            <a:off x="3090600" y="1837800"/>
            <a:ext cx="1325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b300"/>
                </a:solidFill>
                <a:effectLst/>
                <a:uFillTx/>
                <a:latin typeface="Segoe UI"/>
                <a:ea typeface="Segoe UI"/>
              </a:rPr>
              <a:t>500 ms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17"/>
          <p:cNvSpPr/>
          <p:nvPr/>
        </p:nvSpPr>
        <p:spPr>
          <a:xfrm>
            <a:off x="411480" y="2450520"/>
            <a:ext cx="4160160" cy="575640"/>
          </a:xfrm>
          <a:prstGeom prst="roundRect">
            <a:avLst>
              <a:gd name="adj" fmla="val 12698"/>
            </a:avLst>
          </a:prstGeom>
          <a:solidFill>
            <a:srgbClr val="111827"/>
          </a:solidFill>
          <a:ln w="635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18"/>
          <p:cNvSpPr/>
          <p:nvPr/>
        </p:nvSpPr>
        <p:spPr>
          <a:xfrm>
            <a:off x="411480" y="2450520"/>
            <a:ext cx="54360" cy="57564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19"/>
          <p:cNvSpPr/>
          <p:nvPr/>
        </p:nvSpPr>
        <p:spPr>
          <a:xfrm>
            <a:off x="548640" y="24778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b300"/>
                </a:solidFill>
                <a:effectLst/>
                <a:uFillTx/>
                <a:latin typeface="Segoe UI"/>
                <a:ea typeface="Segoe UI"/>
              </a:rPr>
              <a:t>3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20"/>
          <p:cNvSpPr/>
          <p:nvPr/>
        </p:nvSpPr>
        <p:spPr>
          <a:xfrm>
            <a:off x="868680" y="2468880"/>
            <a:ext cx="1828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b300"/>
                </a:solidFill>
                <a:effectLst/>
                <a:uFillTx/>
                <a:latin typeface="Segoe UI"/>
                <a:ea typeface="Segoe UI"/>
              </a:rPr>
              <a:t>Under-Voltage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21"/>
          <p:cNvSpPr/>
          <p:nvPr/>
        </p:nvSpPr>
        <p:spPr>
          <a:xfrm>
            <a:off x="868680" y="2724840"/>
            <a:ext cx="22856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Segoe UI"/>
                <a:ea typeface="Segoe UI"/>
              </a:rPr>
              <a:t>V_RMS &lt; 160V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22"/>
          <p:cNvSpPr/>
          <p:nvPr/>
        </p:nvSpPr>
        <p:spPr>
          <a:xfrm>
            <a:off x="3090600" y="2505600"/>
            <a:ext cx="1325520" cy="255600"/>
          </a:xfrm>
          <a:prstGeom prst="roundRect">
            <a:avLst>
              <a:gd name="adj" fmla="val 17857"/>
            </a:avLst>
          </a:prstGeom>
          <a:solidFill>
            <a:srgbClr val="1e293b"/>
          </a:solidFill>
          <a:ln w="10160">
            <a:solidFill>
              <a:srgbClr val="ffb3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23"/>
          <p:cNvSpPr/>
          <p:nvPr/>
        </p:nvSpPr>
        <p:spPr>
          <a:xfrm>
            <a:off x="3090600" y="2505600"/>
            <a:ext cx="1325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b300"/>
                </a:solidFill>
                <a:effectLst/>
                <a:uFillTx/>
                <a:latin typeface="Segoe UI"/>
                <a:ea typeface="Segoe UI"/>
              </a:rPr>
              <a:t>500 ms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24"/>
          <p:cNvSpPr/>
          <p:nvPr/>
        </p:nvSpPr>
        <p:spPr>
          <a:xfrm>
            <a:off x="411480" y="3117960"/>
            <a:ext cx="4160160" cy="575640"/>
          </a:xfrm>
          <a:prstGeom prst="roundRect">
            <a:avLst>
              <a:gd name="adj" fmla="val 12698"/>
            </a:avLst>
          </a:prstGeom>
          <a:solidFill>
            <a:srgbClr val="111827"/>
          </a:solidFill>
          <a:ln w="635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25"/>
          <p:cNvSpPr/>
          <p:nvPr/>
        </p:nvSpPr>
        <p:spPr>
          <a:xfrm>
            <a:off x="411480" y="3117960"/>
            <a:ext cx="54360" cy="57564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26"/>
          <p:cNvSpPr/>
          <p:nvPr/>
        </p:nvSpPr>
        <p:spPr>
          <a:xfrm>
            <a:off x="548640" y="31456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00e5ff"/>
                </a:solidFill>
                <a:effectLst/>
                <a:uFillTx/>
                <a:latin typeface="Segoe UI"/>
                <a:ea typeface="Segoe UI"/>
              </a:rPr>
              <a:t>4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27"/>
          <p:cNvSpPr/>
          <p:nvPr/>
        </p:nvSpPr>
        <p:spPr>
          <a:xfrm>
            <a:off x="868680" y="3136320"/>
            <a:ext cx="1828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00e5ff"/>
                </a:solidFill>
                <a:effectLst/>
                <a:uFillTx/>
                <a:latin typeface="Segoe UI"/>
                <a:ea typeface="Segoe UI"/>
              </a:rPr>
              <a:t>Overload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28"/>
          <p:cNvSpPr/>
          <p:nvPr/>
        </p:nvSpPr>
        <p:spPr>
          <a:xfrm>
            <a:off x="868680" y="3392280"/>
            <a:ext cx="22856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Segoe UI"/>
                <a:ea typeface="Segoe UI"/>
              </a:rPr>
              <a:t>All phases I_RMS &gt; 6.0A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29"/>
          <p:cNvSpPr/>
          <p:nvPr/>
        </p:nvSpPr>
        <p:spPr>
          <a:xfrm>
            <a:off x="3090600" y="3173040"/>
            <a:ext cx="1325520" cy="255600"/>
          </a:xfrm>
          <a:prstGeom prst="roundRect">
            <a:avLst>
              <a:gd name="adj" fmla="val 17857"/>
            </a:avLst>
          </a:prstGeom>
          <a:solidFill>
            <a:srgbClr val="1e293b"/>
          </a:solidFill>
          <a:ln w="10160">
            <a:solidFill>
              <a:srgbClr val="00e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30"/>
          <p:cNvSpPr/>
          <p:nvPr/>
        </p:nvSpPr>
        <p:spPr>
          <a:xfrm>
            <a:off x="3090600" y="3173040"/>
            <a:ext cx="1325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00e5ff"/>
                </a:solidFill>
                <a:effectLst/>
                <a:uFillTx/>
                <a:latin typeface="Segoe UI"/>
                <a:ea typeface="Segoe UI"/>
              </a:rPr>
              <a:t>500 ms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31"/>
          <p:cNvSpPr/>
          <p:nvPr/>
        </p:nvSpPr>
        <p:spPr>
          <a:xfrm>
            <a:off x="411480" y="3785760"/>
            <a:ext cx="4160160" cy="575640"/>
          </a:xfrm>
          <a:prstGeom prst="roundRect">
            <a:avLst>
              <a:gd name="adj" fmla="val 12698"/>
            </a:avLst>
          </a:prstGeom>
          <a:solidFill>
            <a:srgbClr val="111827"/>
          </a:solidFill>
          <a:ln w="635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32"/>
          <p:cNvSpPr/>
          <p:nvPr/>
        </p:nvSpPr>
        <p:spPr>
          <a:xfrm>
            <a:off x="411480" y="3785760"/>
            <a:ext cx="54360" cy="57564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33"/>
          <p:cNvSpPr/>
          <p:nvPr/>
        </p:nvSpPr>
        <p:spPr>
          <a:xfrm>
            <a:off x="548640" y="381312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00ff88"/>
                </a:solidFill>
                <a:effectLst/>
                <a:uFillTx/>
                <a:latin typeface="Segoe UI"/>
                <a:ea typeface="Segoe UI"/>
              </a:rPr>
              <a:t>5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34"/>
          <p:cNvSpPr/>
          <p:nvPr/>
        </p:nvSpPr>
        <p:spPr>
          <a:xfrm>
            <a:off x="868680" y="3803760"/>
            <a:ext cx="1828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00ff88"/>
                </a:solidFill>
                <a:effectLst/>
                <a:uFillTx/>
                <a:latin typeface="Segoe UI"/>
                <a:ea typeface="Segoe UI"/>
              </a:rPr>
              <a:t>Dry-Run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35"/>
          <p:cNvSpPr/>
          <p:nvPr/>
        </p:nvSpPr>
        <p:spPr>
          <a:xfrm>
            <a:off x="868680" y="4060080"/>
            <a:ext cx="22856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Segoe UI"/>
                <a:ea typeface="Segoe UI"/>
              </a:rPr>
              <a:t>All phases I_RMS &lt; 0.3A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36"/>
          <p:cNvSpPr/>
          <p:nvPr/>
        </p:nvSpPr>
        <p:spPr>
          <a:xfrm>
            <a:off x="3090600" y="3840480"/>
            <a:ext cx="1325520" cy="255600"/>
          </a:xfrm>
          <a:prstGeom prst="roundRect">
            <a:avLst>
              <a:gd name="adj" fmla="val 17857"/>
            </a:avLst>
          </a:prstGeom>
          <a:solidFill>
            <a:srgbClr val="1e293b"/>
          </a:solidFill>
          <a:ln w="10160">
            <a:solidFill>
              <a:srgbClr val="00ff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37"/>
          <p:cNvSpPr/>
          <p:nvPr/>
        </p:nvSpPr>
        <p:spPr>
          <a:xfrm>
            <a:off x="3090600" y="3840480"/>
            <a:ext cx="1325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00ff88"/>
                </a:solidFill>
                <a:effectLst/>
                <a:uFillTx/>
                <a:latin typeface="Segoe UI"/>
                <a:ea typeface="Segoe UI"/>
              </a:rPr>
              <a:t>3.5 s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38"/>
          <p:cNvSpPr/>
          <p:nvPr/>
        </p:nvSpPr>
        <p:spPr>
          <a:xfrm>
            <a:off x="411480" y="4462200"/>
            <a:ext cx="4160160" cy="255600"/>
          </a:xfrm>
          <a:prstGeom prst="roundRect">
            <a:avLst>
              <a:gd name="adj" fmla="val 28571"/>
            </a:avLst>
          </a:prstGeom>
          <a:solidFill>
            <a:srgbClr val="0d2a1a"/>
          </a:solidFill>
          <a:ln w="635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39"/>
          <p:cNvSpPr/>
          <p:nvPr/>
        </p:nvSpPr>
        <p:spPr>
          <a:xfrm>
            <a:off x="502920" y="4480560"/>
            <a:ext cx="39772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00ff88"/>
                </a:solidFill>
                <a:effectLst/>
                <a:uFillTx/>
                <a:latin typeface="Segoe UI"/>
                <a:ea typeface="Segoe UI"/>
              </a:rPr>
              <a:t>⟳  Auto-restart after 30 s stable  |  Safety lockout after 3 consecutive faults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40"/>
          <p:cNvSpPr/>
          <p:nvPr/>
        </p:nvSpPr>
        <p:spPr>
          <a:xfrm>
            <a:off x="0" y="4773240"/>
            <a:ext cx="9143640" cy="365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41"/>
          <p:cNvSpPr/>
          <p:nvPr/>
        </p:nvSpPr>
        <p:spPr>
          <a:xfrm>
            <a:off x="274320" y="479160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0" u="none" strike="noStrike">
                <a:solidFill>
                  <a:srgbClr val="94a3b8"/>
                </a:solidFill>
                <a:effectLst/>
                <a:uFillTx/>
                <a:latin typeface="Segoe UI"/>
                <a:ea typeface="Segoe UI"/>
              </a:rPr>
              <a:t>AquaGuard AI  |  Smart Borewell Motor Protection System  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42"/>
          <p:cNvSpPr/>
          <p:nvPr/>
        </p:nvSpPr>
        <p:spPr>
          <a:xfrm>
            <a:off x="8686800" y="479160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0" u="none" strike="noStrike">
                <a:solidFill>
                  <a:srgbClr val="00e5ff"/>
                </a:solidFill>
                <a:effectLst/>
                <a:uFillTx/>
                <a:latin typeface="Segoe UI"/>
                <a:ea typeface="Segoe UI"/>
              </a:rPr>
              <a:t>9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1"/>
          <p:cNvSpPr/>
          <p:nvPr/>
        </p:nvSpPr>
        <p:spPr>
          <a:xfrm>
            <a:off x="411480" y="255960"/>
            <a:ext cx="8320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00e5ff"/>
                </a:solidFill>
                <a:effectLst/>
                <a:uFillTx/>
                <a:latin typeface="Segoe UI"/>
                <a:ea typeface="Segoe UI"/>
              </a:rPr>
              <a:t>System Operation Flowchart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8" name="Image 0" descr="/home/claude/aq_unpacked/ppt/media/image4.png"/>
          <p:cNvPicPr/>
          <p:nvPr/>
        </p:nvPicPr>
        <p:blipFill>
          <a:blip r:embed="rId1"/>
          <a:stretch/>
        </p:blipFill>
        <p:spPr>
          <a:xfrm>
            <a:off x="4572000" y="804600"/>
            <a:ext cx="4114440" cy="384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9" name="Text 2"/>
          <p:cNvSpPr/>
          <p:nvPr/>
        </p:nvSpPr>
        <p:spPr>
          <a:xfrm>
            <a:off x="411480" y="868680"/>
            <a:ext cx="3837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00e5ff"/>
                </a:solidFill>
                <a:effectLst/>
                <a:uFillTx/>
                <a:latin typeface="Segoe UI"/>
                <a:ea typeface="Segoe UI"/>
              </a:rPr>
              <a:t>01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3"/>
          <p:cNvSpPr/>
          <p:nvPr/>
        </p:nvSpPr>
        <p:spPr>
          <a:xfrm>
            <a:off x="841320" y="868680"/>
            <a:ext cx="27000" cy="4752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4"/>
          <p:cNvSpPr/>
          <p:nvPr/>
        </p:nvSpPr>
        <p:spPr>
          <a:xfrm>
            <a:off x="960120" y="868680"/>
            <a:ext cx="12798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00e5ff"/>
                </a:solidFill>
                <a:effectLst/>
                <a:uFillTx/>
                <a:latin typeface="Segoe UI"/>
                <a:ea typeface="Segoe UI"/>
              </a:rPr>
              <a:t>Initialise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5"/>
          <p:cNvSpPr/>
          <p:nvPr/>
        </p:nvSpPr>
        <p:spPr>
          <a:xfrm>
            <a:off x="960120" y="1097280"/>
            <a:ext cx="34743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Segoe UI"/>
                <a:ea typeface="Segoe UI"/>
              </a:rPr>
              <a:t>Sensors, LCD, relay (motor ON), WiFi/hotspot, web server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6"/>
          <p:cNvSpPr/>
          <p:nvPr/>
        </p:nvSpPr>
        <p:spPr>
          <a:xfrm>
            <a:off x="411480" y="1353240"/>
            <a:ext cx="4023000" cy="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6000" bIns="-36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7"/>
          <p:cNvSpPr/>
          <p:nvPr/>
        </p:nvSpPr>
        <p:spPr>
          <a:xfrm>
            <a:off x="411480" y="1517760"/>
            <a:ext cx="3837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00e5ff"/>
                </a:solidFill>
                <a:effectLst/>
                <a:uFillTx/>
                <a:latin typeface="Segoe UI"/>
                <a:ea typeface="Segoe UI"/>
              </a:rPr>
              <a:t>02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Shape 8"/>
          <p:cNvSpPr/>
          <p:nvPr/>
        </p:nvSpPr>
        <p:spPr>
          <a:xfrm>
            <a:off x="841320" y="1517760"/>
            <a:ext cx="27000" cy="4752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9"/>
          <p:cNvSpPr/>
          <p:nvPr/>
        </p:nvSpPr>
        <p:spPr>
          <a:xfrm>
            <a:off x="960120" y="1517760"/>
            <a:ext cx="12798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00e5ff"/>
                </a:solidFill>
                <a:effectLst/>
                <a:uFillTx/>
                <a:latin typeface="Segoe UI"/>
                <a:ea typeface="Segoe UI"/>
              </a:rPr>
              <a:t>Sample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10"/>
          <p:cNvSpPr/>
          <p:nvPr/>
        </p:nvSpPr>
        <p:spPr>
          <a:xfrm>
            <a:off x="960120" y="1746360"/>
            <a:ext cx="34743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Segoe UI"/>
                <a:ea typeface="Segoe UI"/>
              </a:rPr>
              <a:t>R, Y, B currents at 2 kHz + voltage; water level at 1 Hz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11"/>
          <p:cNvSpPr/>
          <p:nvPr/>
        </p:nvSpPr>
        <p:spPr>
          <a:xfrm>
            <a:off x="411480" y="2002680"/>
            <a:ext cx="4023000" cy="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6000" bIns="-36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12"/>
          <p:cNvSpPr/>
          <p:nvPr/>
        </p:nvSpPr>
        <p:spPr>
          <a:xfrm>
            <a:off x="411480" y="2167200"/>
            <a:ext cx="3837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00e5ff"/>
                </a:solidFill>
                <a:effectLst/>
                <a:uFillTx/>
                <a:latin typeface="Segoe UI"/>
                <a:ea typeface="Segoe UI"/>
              </a:rPr>
              <a:t>03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13"/>
          <p:cNvSpPr/>
          <p:nvPr/>
        </p:nvSpPr>
        <p:spPr>
          <a:xfrm>
            <a:off x="841320" y="2167200"/>
            <a:ext cx="27000" cy="4752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14"/>
          <p:cNvSpPr/>
          <p:nvPr/>
        </p:nvSpPr>
        <p:spPr>
          <a:xfrm>
            <a:off x="960120" y="2167200"/>
            <a:ext cx="12798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00e5ff"/>
                </a:solidFill>
                <a:effectLst/>
                <a:uFillTx/>
                <a:latin typeface="Segoe UI"/>
                <a:ea typeface="Segoe UI"/>
              </a:rPr>
              <a:t>Compute RMS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15"/>
          <p:cNvSpPr/>
          <p:nvPr/>
        </p:nvSpPr>
        <p:spPr>
          <a:xfrm>
            <a:off x="960120" y="2395800"/>
            <a:ext cx="34743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Segoe UI"/>
                <a:ea typeface="Segoe UI"/>
              </a:rPr>
              <a:t>Phase-wise I_RMS over 20ms window; V_RMS; water height, %, volume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16"/>
          <p:cNvSpPr/>
          <p:nvPr/>
        </p:nvSpPr>
        <p:spPr>
          <a:xfrm>
            <a:off x="411480" y="2651760"/>
            <a:ext cx="4023000" cy="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6000" bIns="-36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17"/>
          <p:cNvSpPr/>
          <p:nvPr/>
        </p:nvSpPr>
        <p:spPr>
          <a:xfrm>
            <a:off x="411480" y="2816280"/>
            <a:ext cx="3837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00e5ff"/>
                </a:solidFill>
                <a:effectLst/>
                <a:uFillTx/>
                <a:latin typeface="Segoe UI"/>
                <a:ea typeface="Segoe UI"/>
              </a:rPr>
              <a:t>04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18"/>
          <p:cNvSpPr/>
          <p:nvPr/>
        </p:nvSpPr>
        <p:spPr>
          <a:xfrm>
            <a:off x="841320" y="2816280"/>
            <a:ext cx="27000" cy="4752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19"/>
          <p:cNvSpPr/>
          <p:nvPr/>
        </p:nvSpPr>
        <p:spPr>
          <a:xfrm>
            <a:off x="960120" y="2816280"/>
            <a:ext cx="12798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00e5ff"/>
                </a:solidFill>
                <a:effectLst/>
                <a:uFillTx/>
                <a:latin typeface="Segoe UI"/>
                <a:ea typeface="Segoe UI"/>
              </a:rPr>
              <a:t>Evaluate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20"/>
          <p:cNvSpPr/>
          <p:nvPr/>
        </p:nvSpPr>
        <p:spPr>
          <a:xfrm>
            <a:off x="960120" y="3044880"/>
            <a:ext cx="34743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Segoe UI"/>
                <a:ea typeface="Segoe UI"/>
              </a:rPr>
              <a:t>Fault conditions in priority order: Phase Loss → OV → UV → OL → Dry-Run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21"/>
          <p:cNvSpPr/>
          <p:nvPr/>
        </p:nvSpPr>
        <p:spPr>
          <a:xfrm>
            <a:off x="411480" y="3300840"/>
            <a:ext cx="4023000" cy="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6000" bIns="-36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22"/>
          <p:cNvSpPr/>
          <p:nvPr/>
        </p:nvSpPr>
        <p:spPr>
          <a:xfrm>
            <a:off x="411480" y="3465720"/>
            <a:ext cx="3837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00e5ff"/>
                </a:solidFill>
                <a:effectLst/>
                <a:uFillTx/>
                <a:latin typeface="Segoe UI"/>
                <a:ea typeface="Segoe UI"/>
              </a:rPr>
              <a:t>05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23"/>
          <p:cNvSpPr/>
          <p:nvPr/>
        </p:nvSpPr>
        <p:spPr>
          <a:xfrm>
            <a:off x="841320" y="3465720"/>
            <a:ext cx="27000" cy="4752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24"/>
          <p:cNvSpPr/>
          <p:nvPr/>
        </p:nvSpPr>
        <p:spPr>
          <a:xfrm>
            <a:off x="960120" y="3465720"/>
            <a:ext cx="12798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00e5ff"/>
                </a:solidFill>
                <a:effectLst/>
                <a:uFillTx/>
                <a:latin typeface="Segoe UI"/>
                <a:ea typeface="Segoe UI"/>
              </a:rPr>
              <a:t>Trip / Clear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25"/>
          <p:cNvSpPr/>
          <p:nvPr/>
        </p:nvSpPr>
        <p:spPr>
          <a:xfrm>
            <a:off x="960120" y="3694320"/>
            <a:ext cx="34743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Segoe UI"/>
                <a:ea typeface="Segoe UI"/>
              </a:rPr>
              <a:t>If fault persists beyond trip-delay: relay OFF, log fault, alert LCD + buzzer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26"/>
          <p:cNvSpPr/>
          <p:nvPr/>
        </p:nvSpPr>
        <p:spPr>
          <a:xfrm>
            <a:off x="411480" y="3950280"/>
            <a:ext cx="4023000" cy="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6000" bIns="-36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27"/>
          <p:cNvSpPr/>
          <p:nvPr/>
        </p:nvSpPr>
        <p:spPr>
          <a:xfrm>
            <a:off x="411480" y="4114800"/>
            <a:ext cx="3837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00e5ff"/>
                </a:solidFill>
                <a:effectLst/>
                <a:uFillTx/>
                <a:latin typeface="Segoe UI"/>
                <a:ea typeface="Segoe UI"/>
              </a:rPr>
              <a:t>06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28"/>
          <p:cNvSpPr/>
          <p:nvPr/>
        </p:nvSpPr>
        <p:spPr>
          <a:xfrm>
            <a:off x="841320" y="4114800"/>
            <a:ext cx="27000" cy="4752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29"/>
          <p:cNvSpPr/>
          <p:nvPr/>
        </p:nvSpPr>
        <p:spPr>
          <a:xfrm>
            <a:off x="960120" y="4114800"/>
            <a:ext cx="12798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00e5ff"/>
                </a:solidFill>
                <a:effectLst/>
                <a:uFillTx/>
                <a:latin typeface="Segoe UI"/>
                <a:ea typeface="Segoe UI"/>
              </a:rPr>
              <a:t>Auto-Restart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30"/>
          <p:cNvSpPr/>
          <p:nvPr/>
        </p:nvSpPr>
        <p:spPr>
          <a:xfrm>
            <a:off x="960120" y="4343400"/>
            <a:ext cx="34743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Segoe UI"/>
                <a:ea typeface="Segoe UI"/>
              </a:rPr>
              <a:t>30 s stable → restart motor; 3 faults → safety lockout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31"/>
          <p:cNvSpPr/>
          <p:nvPr/>
        </p:nvSpPr>
        <p:spPr>
          <a:xfrm>
            <a:off x="0" y="4773240"/>
            <a:ext cx="9143640" cy="365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32"/>
          <p:cNvSpPr/>
          <p:nvPr/>
        </p:nvSpPr>
        <p:spPr>
          <a:xfrm>
            <a:off x="274320" y="479160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0" u="none" strike="noStrike">
                <a:solidFill>
                  <a:srgbClr val="94a3b8"/>
                </a:solidFill>
                <a:effectLst/>
                <a:uFillTx/>
                <a:latin typeface="Segoe UI"/>
                <a:ea typeface="Segoe UI"/>
              </a:rPr>
              <a:t>AquaGuard AI  |  Smart Borewell Motor Protection System  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33"/>
          <p:cNvSpPr/>
          <p:nvPr/>
        </p:nvSpPr>
        <p:spPr>
          <a:xfrm>
            <a:off x="8686800" y="479160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0" u="none" strike="noStrike">
                <a:solidFill>
                  <a:srgbClr val="00e5ff"/>
                </a:solidFill>
                <a:effectLst/>
                <a:uFillTx/>
                <a:latin typeface="Segoe UI"/>
                <a:ea typeface="Segoe UI"/>
              </a:rPr>
              <a:t>10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1"/>
          <p:cNvSpPr/>
          <p:nvPr/>
        </p:nvSpPr>
        <p:spPr>
          <a:xfrm>
            <a:off x="411480" y="255960"/>
            <a:ext cx="8320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00e5ff"/>
                </a:solidFill>
                <a:effectLst/>
                <a:uFillTx/>
                <a:latin typeface="Segoe UI"/>
                <a:ea typeface="Segoe UI"/>
              </a:rPr>
              <a:t>Hardware &amp; Software Description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2"/>
          <p:cNvSpPr/>
          <p:nvPr/>
        </p:nvSpPr>
        <p:spPr>
          <a:xfrm>
            <a:off x="411480" y="822960"/>
            <a:ext cx="4160160" cy="3885840"/>
          </a:xfrm>
          <a:prstGeom prst="roundRect">
            <a:avLst>
              <a:gd name="adj" fmla="val 1882"/>
            </a:avLst>
          </a:prstGeom>
          <a:solidFill>
            <a:srgbClr val="111827"/>
          </a:solidFill>
          <a:ln w="635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3"/>
          <p:cNvSpPr/>
          <p:nvPr/>
        </p:nvSpPr>
        <p:spPr>
          <a:xfrm>
            <a:off x="548640" y="89604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00e5ff"/>
                </a:solidFill>
                <a:effectLst/>
                <a:uFillTx/>
                <a:latin typeface="Segoe UI"/>
                <a:ea typeface="Segoe UI"/>
              </a:rPr>
              <a:t>HARDWARE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4"/>
          <p:cNvSpPr/>
          <p:nvPr/>
        </p:nvSpPr>
        <p:spPr>
          <a:xfrm>
            <a:off x="567000" y="1234440"/>
            <a:ext cx="1828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ESP32 DevKit V1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5"/>
          <p:cNvSpPr/>
          <p:nvPr/>
        </p:nvSpPr>
        <p:spPr>
          <a:xfrm>
            <a:off x="2468880" y="1234440"/>
            <a:ext cx="1965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Segoe UI"/>
                <a:ea typeface="Segoe UI"/>
              </a:rPr>
              <a:t>240 MHz dual-core, 520KB SRAM, WiFi/BT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Shape 6"/>
          <p:cNvSpPr/>
          <p:nvPr/>
        </p:nvSpPr>
        <p:spPr>
          <a:xfrm>
            <a:off x="567000" y="1591200"/>
            <a:ext cx="3858480" cy="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6000" bIns="-36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7"/>
          <p:cNvSpPr/>
          <p:nvPr/>
        </p:nvSpPr>
        <p:spPr>
          <a:xfrm>
            <a:off x="567000" y="1673280"/>
            <a:ext cx="1828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ACS712 (20A) ×3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8"/>
          <p:cNvSpPr/>
          <p:nvPr/>
        </p:nvSpPr>
        <p:spPr>
          <a:xfrm>
            <a:off x="2468880" y="1673280"/>
            <a:ext cx="1965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Segoe UI"/>
                <a:ea typeface="Segoe UI"/>
              </a:rPr>
              <a:t>Hall-effect current sensing, 100 mV/A, 5V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9"/>
          <p:cNvSpPr/>
          <p:nvPr/>
        </p:nvSpPr>
        <p:spPr>
          <a:xfrm>
            <a:off x="567000" y="2030040"/>
            <a:ext cx="3858480" cy="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6000" bIns="-36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10"/>
          <p:cNvSpPr/>
          <p:nvPr/>
        </p:nvSpPr>
        <p:spPr>
          <a:xfrm>
            <a:off x="567000" y="2112120"/>
            <a:ext cx="1828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ZMPT101B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11"/>
          <p:cNvSpPr/>
          <p:nvPr/>
        </p:nvSpPr>
        <p:spPr>
          <a:xfrm>
            <a:off x="2468880" y="2112120"/>
            <a:ext cx="1965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Segoe UI"/>
                <a:ea typeface="Segoe UI"/>
              </a:rPr>
              <a:t>Isolated AC voltage sensor, 0–3.3V output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Shape 12"/>
          <p:cNvSpPr/>
          <p:nvPr/>
        </p:nvSpPr>
        <p:spPr>
          <a:xfrm>
            <a:off x="567000" y="2468880"/>
            <a:ext cx="3858480" cy="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6000" bIns="-36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13"/>
          <p:cNvSpPr/>
          <p:nvPr/>
        </p:nvSpPr>
        <p:spPr>
          <a:xfrm>
            <a:off x="567000" y="2551320"/>
            <a:ext cx="1828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HC-SR04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14"/>
          <p:cNvSpPr/>
          <p:nvPr/>
        </p:nvSpPr>
        <p:spPr>
          <a:xfrm>
            <a:off x="2468880" y="2551320"/>
            <a:ext cx="1965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Segoe UI"/>
                <a:ea typeface="Segoe UI"/>
              </a:rPr>
              <a:t>Ultrasonic water level, 2–400 cm range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Shape 15"/>
          <p:cNvSpPr/>
          <p:nvPr/>
        </p:nvSpPr>
        <p:spPr>
          <a:xfrm>
            <a:off x="567000" y="2907720"/>
            <a:ext cx="3858480" cy="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6000" bIns="-36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16"/>
          <p:cNvSpPr/>
          <p:nvPr/>
        </p:nvSpPr>
        <p:spPr>
          <a:xfrm>
            <a:off x="567000" y="2990160"/>
            <a:ext cx="1828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16×2 I2C LCD (0x27)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17"/>
          <p:cNvSpPr/>
          <p:nvPr/>
        </p:nvSpPr>
        <p:spPr>
          <a:xfrm>
            <a:off x="2468880" y="2990160"/>
            <a:ext cx="1965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Segoe UI"/>
                <a:ea typeface="Segoe UI"/>
              </a:rPr>
              <a:t>Local status, 3 rotating screens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Shape 18"/>
          <p:cNvSpPr/>
          <p:nvPr/>
        </p:nvSpPr>
        <p:spPr>
          <a:xfrm>
            <a:off x="567000" y="3346560"/>
            <a:ext cx="3858480" cy="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6000" bIns="-36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19"/>
          <p:cNvSpPr/>
          <p:nvPr/>
        </p:nvSpPr>
        <p:spPr>
          <a:xfrm>
            <a:off x="567000" y="3429000"/>
            <a:ext cx="1828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Relay + Contactor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20"/>
          <p:cNvSpPr/>
          <p:nvPr/>
        </p:nvSpPr>
        <p:spPr>
          <a:xfrm>
            <a:off x="2468880" y="3429000"/>
            <a:ext cx="1965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Segoe UI"/>
                <a:ea typeface="Segoe UI"/>
              </a:rPr>
              <a:t>Active-LOW; 415V three-phase isolation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Shape 21"/>
          <p:cNvSpPr/>
          <p:nvPr/>
        </p:nvSpPr>
        <p:spPr>
          <a:xfrm>
            <a:off x="567000" y="3785760"/>
            <a:ext cx="3858480" cy="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6000" bIns="-36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22"/>
          <p:cNvSpPr/>
          <p:nvPr/>
        </p:nvSpPr>
        <p:spPr>
          <a:xfrm>
            <a:off x="567000" y="3867840"/>
            <a:ext cx="1828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Buzzer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23"/>
          <p:cNvSpPr/>
          <p:nvPr/>
        </p:nvSpPr>
        <p:spPr>
          <a:xfrm>
            <a:off x="2468880" y="3867840"/>
            <a:ext cx="1965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Segoe UI"/>
                <a:ea typeface="Segoe UI"/>
              </a:rPr>
              <a:t>Audible fault alert on GPIO 26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Shape 24"/>
          <p:cNvSpPr/>
          <p:nvPr/>
        </p:nvSpPr>
        <p:spPr>
          <a:xfrm>
            <a:off x="4663440" y="822960"/>
            <a:ext cx="4023000" cy="3885840"/>
          </a:xfrm>
          <a:prstGeom prst="roundRect">
            <a:avLst>
              <a:gd name="adj" fmla="val 1882"/>
            </a:avLst>
          </a:prstGeom>
          <a:solidFill>
            <a:srgbClr val="111827"/>
          </a:solidFill>
          <a:ln w="635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25"/>
          <p:cNvSpPr/>
          <p:nvPr/>
        </p:nvSpPr>
        <p:spPr>
          <a:xfrm>
            <a:off x="4800600" y="896040"/>
            <a:ext cx="3748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00ff88"/>
                </a:solidFill>
                <a:effectLst/>
                <a:uFillTx/>
                <a:latin typeface="Segoe UI"/>
                <a:ea typeface="Segoe UI"/>
              </a:rPr>
              <a:t>SOFTWARE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26"/>
          <p:cNvSpPr/>
          <p:nvPr/>
        </p:nvSpPr>
        <p:spPr>
          <a:xfrm>
            <a:off x="4800600" y="1234440"/>
            <a:ext cx="1828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Arduino IDE 2.x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27"/>
          <p:cNvSpPr/>
          <p:nvPr/>
        </p:nvSpPr>
        <p:spPr>
          <a:xfrm>
            <a:off x="6675120" y="1234440"/>
            <a:ext cx="1919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Segoe UI"/>
                <a:ea typeface="Segoe UI"/>
              </a:rPr>
              <a:t>ESP32 firmware development in C/C++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Shape 28"/>
          <p:cNvSpPr/>
          <p:nvPr/>
        </p:nvSpPr>
        <p:spPr>
          <a:xfrm>
            <a:off x="4800600" y="1591200"/>
            <a:ext cx="3748680" cy="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6000" bIns="-36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29"/>
          <p:cNvSpPr/>
          <p:nvPr/>
        </p:nvSpPr>
        <p:spPr>
          <a:xfrm>
            <a:off x="4800600" y="1673280"/>
            <a:ext cx="1828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LiquidCrystal_I2C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30"/>
          <p:cNvSpPr/>
          <p:nvPr/>
        </p:nvSpPr>
        <p:spPr>
          <a:xfrm>
            <a:off x="6675120" y="1673280"/>
            <a:ext cx="1919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Segoe UI"/>
                <a:ea typeface="Segoe UI"/>
              </a:rPr>
              <a:t>LCD control via I2C interface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Shape 31"/>
          <p:cNvSpPr/>
          <p:nvPr/>
        </p:nvSpPr>
        <p:spPr>
          <a:xfrm>
            <a:off x="4800600" y="2030040"/>
            <a:ext cx="3748680" cy="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6000" bIns="-36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32"/>
          <p:cNvSpPr/>
          <p:nvPr/>
        </p:nvSpPr>
        <p:spPr>
          <a:xfrm>
            <a:off x="4800600" y="2112120"/>
            <a:ext cx="1828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ESPAsyncWebServer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33"/>
          <p:cNvSpPr/>
          <p:nvPr/>
        </p:nvSpPr>
        <p:spPr>
          <a:xfrm>
            <a:off x="6675120" y="2112120"/>
            <a:ext cx="1919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Segoe UI"/>
                <a:ea typeface="Segoe UI"/>
              </a:rPr>
              <a:t>Offline hotspot HTTP dashboard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Shape 34"/>
          <p:cNvSpPr/>
          <p:nvPr/>
        </p:nvSpPr>
        <p:spPr>
          <a:xfrm>
            <a:off x="4800600" y="2468880"/>
            <a:ext cx="3748680" cy="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6000" bIns="-36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35"/>
          <p:cNvSpPr/>
          <p:nvPr/>
        </p:nvSpPr>
        <p:spPr>
          <a:xfrm>
            <a:off x="4800600" y="2551320"/>
            <a:ext cx="1828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Blynk / ThingSpeak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36"/>
          <p:cNvSpPr/>
          <p:nvPr/>
        </p:nvSpPr>
        <p:spPr>
          <a:xfrm>
            <a:off x="6675120" y="2551320"/>
            <a:ext cx="1919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Segoe UI"/>
                <a:ea typeface="Segoe UI"/>
              </a:rPr>
              <a:t>WiFi cloud remote monitoring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Shape 37"/>
          <p:cNvSpPr/>
          <p:nvPr/>
        </p:nvSpPr>
        <p:spPr>
          <a:xfrm>
            <a:off x="4800600" y="2907720"/>
            <a:ext cx="3748680" cy="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6000" bIns="-36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38"/>
          <p:cNvSpPr/>
          <p:nvPr/>
        </p:nvSpPr>
        <p:spPr>
          <a:xfrm>
            <a:off x="4800600" y="2990160"/>
            <a:ext cx="1828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ACS712 RMS Library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39"/>
          <p:cNvSpPr/>
          <p:nvPr/>
        </p:nvSpPr>
        <p:spPr>
          <a:xfrm>
            <a:off x="6675120" y="2990160"/>
            <a:ext cx="1919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Segoe UI"/>
                <a:ea typeface="Segoe UI"/>
              </a:rPr>
              <a:t>Phase current computation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Shape 40"/>
          <p:cNvSpPr/>
          <p:nvPr/>
        </p:nvSpPr>
        <p:spPr>
          <a:xfrm>
            <a:off x="4800600" y="3346560"/>
            <a:ext cx="3748680" cy="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6000" bIns="-36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41"/>
          <p:cNvSpPr/>
          <p:nvPr/>
        </p:nvSpPr>
        <p:spPr>
          <a:xfrm>
            <a:off x="4800600" y="3429000"/>
            <a:ext cx="1828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ZMPT101B Driver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42"/>
          <p:cNvSpPr/>
          <p:nvPr/>
        </p:nvSpPr>
        <p:spPr>
          <a:xfrm>
            <a:off x="6675120" y="3429000"/>
            <a:ext cx="1919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Segoe UI"/>
                <a:ea typeface="Segoe UI"/>
              </a:rPr>
              <a:t>Calibrated AC voltage sensing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Shape 43"/>
          <p:cNvSpPr/>
          <p:nvPr/>
        </p:nvSpPr>
        <p:spPr>
          <a:xfrm>
            <a:off x="4800600" y="3785760"/>
            <a:ext cx="3748680" cy="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6000" bIns="-36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44"/>
          <p:cNvSpPr/>
          <p:nvPr/>
        </p:nvSpPr>
        <p:spPr>
          <a:xfrm>
            <a:off x="4800600" y="3867840"/>
            <a:ext cx="1828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HC-SR04 Lib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45"/>
          <p:cNvSpPr/>
          <p:nvPr/>
        </p:nvSpPr>
        <p:spPr>
          <a:xfrm>
            <a:off x="6675120" y="3867840"/>
            <a:ext cx="1919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Segoe UI"/>
                <a:ea typeface="Segoe UI"/>
              </a:rPr>
              <a:t>Distance → water % → volume calc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Shape 46"/>
          <p:cNvSpPr/>
          <p:nvPr/>
        </p:nvSpPr>
        <p:spPr>
          <a:xfrm>
            <a:off x="0" y="4773240"/>
            <a:ext cx="9143640" cy="365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47"/>
          <p:cNvSpPr/>
          <p:nvPr/>
        </p:nvSpPr>
        <p:spPr>
          <a:xfrm>
            <a:off x="274320" y="479160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0" u="none" strike="noStrike">
                <a:solidFill>
                  <a:srgbClr val="94a3b8"/>
                </a:solidFill>
                <a:effectLst/>
                <a:uFillTx/>
                <a:latin typeface="Segoe UI"/>
                <a:ea typeface="Segoe UI"/>
              </a:rPr>
              <a:t>AquaGuard AI  |  Smart Borewell Motor Protection System  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48"/>
          <p:cNvSpPr/>
          <p:nvPr/>
        </p:nvSpPr>
        <p:spPr>
          <a:xfrm>
            <a:off x="8686800" y="479160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0" u="none" strike="noStrike">
                <a:solidFill>
                  <a:srgbClr val="00e5ff"/>
                </a:solidFill>
                <a:effectLst/>
                <a:uFillTx/>
                <a:latin typeface="Segoe UI"/>
                <a:ea typeface="Segoe UI"/>
              </a:rPr>
              <a:t>11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1"/>
          <p:cNvSpPr/>
          <p:nvPr/>
        </p:nvSpPr>
        <p:spPr>
          <a:xfrm>
            <a:off x="411480" y="255960"/>
            <a:ext cx="8320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00e5ff"/>
                </a:solidFill>
                <a:effectLst/>
                <a:uFillTx/>
                <a:latin typeface="Segoe UI"/>
                <a:ea typeface="Segoe UI"/>
              </a:rPr>
              <a:t>Results &amp; Discussion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2"/>
          <p:cNvSpPr/>
          <p:nvPr/>
        </p:nvSpPr>
        <p:spPr>
          <a:xfrm>
            <a:off x="411480" y="804600"/>
            <a:ext cx="5028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00ff88"/>
                </a:solidFill>
                <a:effectLst/>
                <a:uFillTx/>
                <a:latin typeface="Segoe UI"/>
                <a:ea typeface="Segoe UI"/>
              </a:rPr>
              <a:t>All 7 test scenarios PASSED ✓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Shape 3"/>
          <p:cNvSpPr/>
          <p:nvPr/>
        </p:nvSpPr>
        <p:spPr>
          <a:xfrm>
            <a:off x="411480" y="1115640"/>
            <a:ext cx="4663080" cy="402120"/>
          </a:xfrm>
          <a:prstGeom prst="roundRect">
            <a:avLst>
              <a:gd name="adj" fmla="val 18182"/>
            </a:avLst>
          </a:prstGeom>
          <a:solidFill>
            <a:srgbClr val="111827"/>
          </a:solidFill>
          <a:ln w="635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4"/>
          <p:cNvSpPr/>
          <p:nvPr/>
        </p:nvSpPr>
        <p:spPr>
          <a:xfrm>
            <a:off x="548640" y="1143000"/>
            <a:ext cx="16455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Phase Loss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5"/>
          <p:cNvSpPr/>
          <p:nvPr/>
        </p:nvSpPr>
        <p:spPr>
          <a:xfrm>
            <a:off x="2240280" y="1143000"/>
            <a:ext cx="1828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Segoe UI"/>
                <a:ea typeface="Segoe UI"/>
              </a:rPr>
              <a:t>R-phase open-circuited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Shape 6"/>
          <p:cNvSpPr/>
          <p:nvPr/>
        </p:nvSpPr>
        <p:spPr>
          <a:xfrm>
            <a:off x="4069080" y="1161360"/>
            <a:ext cx="868320" cy="255600"/>
          </a:xfrm>
          <a:prstGeom prst="roundRect">
            <a:avLst>
              <a:gd name="adj" fmla="val 17857"/>
            </a:avLst>
          </a:prstGeom>
          <a:solidFill>
            <a:srgbClr val="1e293b"/>
          </a:solidFill>
          <a:ln w="10160">
            <a:solidFill>
              <a:srgbClr val="00ff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7"/>
          <p:cNvSpPr/>
          <p:nvPr/>
        </p:nvSpPr>
        <p:spPr>
          <a:xfrm>
            <a:off x="4069080" y="1161360"/>
            <a:ext cx="868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00ff88"/>
                </a:solidFill>
                <a:effectLst/>
                <a:uFillTx/>
                <a:latin typeface="Segoe UI"/>
                <a:ea typeface="Segoe UI"/>
              </a:rPr>
              <a:t>1.2 s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Shape 8"/>
          <p:cNvSpPr/>
          <p:nvPr/>
        </p:nvSpPr>
        <p:spPr>
          <a:xfrm>
            <a:off x="411480" y="1591200"/>
            <a:ext cx="4663080" cy="402120"/>
          </a:xfrm>
          <a:prstGeom prst="roundRect">
            <a:avLst>
              <a:gd name="adj" fmla="val 18182"/>
            </a:avLst>
          </a:prstGeom>
          <a:solidFill>
            <a:srgbClr val="111827"/>
          </a:solidFill>
          <a:ln w="635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9"/>
          <p:cNvSpPr/>
          <p:nvPr/>
        </p:nvSpPr>
        <p:spPr>
          <a:xfrm>
            <a:off x="548640" y="1618560"/>
            <a:ext cx="16455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Overload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10"/>
          <p:cNvSpPr/>
          <p:nvPr/>
        </p:nvSpPr>
        <p:spPr>
          <a:xfrm>
            <a:off x="2240280" y="1618560"/>
            <a:ext cx="1828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Segoe UI"/>
                <a:ea typeface="Segoe UI"/>
              </a:rPr>
              <a:t>150% rated current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Shape 11"/>
          <p:cNvSpPr/>
          <p:nvPr/>
        </p:nvSpPr>
        <p:spPr>
          <a:xfrm>
            <a:off x="4069080" y="1636920"/>
            <a:ext cx="868320" cy="255600"/>
          </a:xfrm>
          <a:prstGeom prst="roundRect">
            <a:avLst>
              <a:gd name="adj" fmla="val 17857"/>
            </a:avLst>
          </a:prstGeom>
          <a:solidFill>
            <a:srgbClr val="1e293b"/>
          </a:solidFill>
          <a:ln w="10160">
            <a:solidFill>
              <a:srgbClr val="00ff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12"/>
          <p:cNvSpPr/>
          <p:nvPr/>
        </p:nvSpPr>
        <p:spPr>
          <a:xfrm>
            <a:off x="4069080" y="1636920"/>
            <a:ext cx="868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00ff88"/>
                </a:solidFill>
                <a:effectLst/>
                <a:uFillTx/>
                <a:latin typeface="Segoe UI"/>
                <a:ea typeface="Segoe UI"/>
              </a:rPr>
              <a:t>2.0 s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Shape 13"/>
          <p:cNvSpPr/>
          <p:nvPr/>
        </p:nvSpPr>
        <p:spPr>
          <a:xfrm>
            <a:off x="411480" y="2066400"/>
            <a:ext cx="4663080" cy="402120"/>
          </a:xfrm>
          <a:prstGeom prst="roundRect">
            <a:avLst>
              <a:gd name="adj" fmla="val 18182"/>
            </a:avLst>
          </a:prstGeom>
          <a:solidFill>
            <a:srgbClr val="111827"/>
          </a:solidFill>
          <a:ln w="635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14"/>
          <p:cNvSpPr/>
          <p:nvPr/>
        </p:nvSpPr>
        <p:spPr>
          <a:xfrm>
            <a:off x="548640" y="2094120"/>
            <a:ext cx="16455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Dry-Run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15"/>
          <p:cNvSpPr/>
          <p:nvPr/>
        </p:nvSpPr>
        <p:spPr>
          <a:xfrm>
            <a:off x="2240280" y="2094120"/>
            <a:ext cx="1828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Segoe UI"/>
                <a:ea typeface="Segoe UI"/>
              </a:rPr>
              <a:t>Auto-restart blocked till water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Shape 16"/>
          <p:cNvSpPr/>
          <p:nvPr/>
        </p:nvSpPr>
        <p:spPr>
          <a:xfrm>
            <a:off x="4069080" y="2112120"/>
            <a:ext cx="868320" cy="255600"/>
          </a:xfrm>
          <a:prstGeom prst="roundRect">
            <a:avLst>
              <a:gd name="adj" fmla="val 17857"/>
            </a:avLst>
          </a:prstGeom>
          <a:solidFill>
            <a:srgbClr val="1e293b"/>
          </a:solidFill>
          <a:ln w="10160">
            <a:solidFill>
              <a:srgbClr val="00ff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17"/>
          <p:cNvSpPr/>
          <p:nvPr/>
        </p:nvSpPr>
        <p:spPr>
          <a:xfrm>
            <a:off x="4069080" y="2112120"/>
            <a:ext cx="868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00ff88"/>
                </a:solidFill>
                <a:effectLst/>
                <a:uFillTx/>
                <a:latin typeface="Segoe UI"/>
                <a:ea typeface="Segoe UI"/>
              </a:rPr>
              <a:t>3.5 s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Shape 18"/>
          <p:cNvSpPr/>
          <p:nvPr/>
        </p:nvSpPr>
        <p:spPr>
          <a:xfrm>
            <a:off x="411480" y="2541960"/>
            <a:ext cx="4663080" cy="402120"/>
          </a:xfrm>
          <a:prstGeom prst="roundRect">
            <a:avLst>
              <a:gd name="adj" fmla="val 18182"/>
            </a:avLst>
          </a:prstGeom>
          <a:solidFill>
            <a:srgbClr val="111827"/>
          </a:solidFill>
          <a:ln w="635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19"/>
          <p:cNvSpPr/>
          <p:nvPr/>
        </p:nvSpPr>
        <p:spPr>
          <a:xfrm>
            <a:off x="548640" y="2569320"/>
            <a:ext cx="16455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Under-Voltage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20"/>
          <p:cNvSpPr/>
          <p:nvPr/>
        </p:nvSpPr>
        <p:spPr>
          <a:xfrm>
            <a:off x="2240280" y="2569320"/>
            <a:ext cx="1828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Segoe UI"/>
                <a:ea typeface="Segoe UI"/>
              </a:rPr>
              <a:t>Supply at 150V AC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Shape 21"/>
          <p:cNvSpPr/>
          <p:nvPr/>
        </p:nvSpPr>
        <p:spPr>
          <a:xfrm>
            <a:off x="4069080" y="2587680"/>
            <a:ext cx="868320" cy="255600"/>
          </a:xfrm>
          <a:prstGeom prst="roundRect">
            <a:avLst>
              <a:gd name="adj" fmla="val 17857"/>
            </a:avLst>
          </a:prstGeom>
          <a:solidFill>
            <a:srgbClr val="1e293b"/>
          </a:solidFill>
          <a:ln w="10160">
            <a:solidFill>
              <a:srgbClr val="00ff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22"/>
          <p:cNvSpPr/>
          <p:nvPr/>
        </p:nvSpPr>
        <p:spPr>
          <a:xfrm>
            <a:off x="4069080" y="2587680"/>
            <a:ext cx="868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00ff88"/>
                </a:solidFill>
                <a:effectLst/>
                <a:uFillTx/>
                <a:latin typeface="Segoe UI"/>
                <a:ea typeface="Segoe UI"/>
              </a:rPr>
              <a:t>0.8 s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Shape 23"/>
          <p:cNvSpPr/>
          <p:nvPr/>
        </p:nvSpPr>
        <p:spPr>
          <a:xfrm>
            <a:off x="411480" y="3017520"/>
            <a:ext cx="4663080" cy="402120"/>
          </a:xfrm>
          <a:prstGeom prst="roundRect">
            <a:avLst>
              <a:gd name="adj" fmla="val 18182"/>
            </a:avLst>
          </a:prstGeom>
          <a:solidFill>
            <a:srgbClr val="111827"/>
          </a:solidFill>
          <a:ln w="635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24"/>
          <p:cNvSpPr/>
          <p:nvPr/>
        </p:nvSpPr>
        <p:spPr>
          <a:xfrm>
            <a:off x="548640" y="3044880"/>
            <a:ext cx="16455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Over-Voltage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25"/>
          <p:cNvSpPr/>
          <p:nvPr/>
        </p:nvSpPr>
        <p:spPr>
          <a:xfrm>
            <a:off x="2240280" y="3044880"/>
            <a:ext cx="1828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Segoe UI"/>
                <a:ea typeface="Segoe UI"/>
              </a:rPr>
              <a:t>Supply at 285V AC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Shape 26"/>
          <p:cNvSpPr/>
          <p:nvPr/>
        </p:nvSpPr>
        <p:spPr>
          <a:xfrm>
            <a:off x="4069080" y="3063240"/>
            <a:ext cx="868320" cy="255600"/>
          </a:xfrm>
          <a:prstGeom prst="roundRect">
            <a:avLst>
              <a:gd name="adj" fmla="val 17857"/>
            </a:avLst>
          </a:prstGeom>
          <a:solidFill>
            <a:srgbClr val="1e293b"/>
          </a:solidFill>
          <a:ln w="10160">
            <a:solidFill>
              <a:srgbClr val="00ff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27"/>
          <p:cNvSpPr/>
          <p:nvPr/>
        </p:nvSpPr>
        <p:spPr>
          <a:xfrm>
            <a:off x="4069080" y="3063240"/>
            <a:ext cx="868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00ff88"/>
                </a:solidFill>
                <a:effectLst/>
                <a:uFillTx/>
                <a:latin typeface="Segoe UI"/>
                <a:ea typeface="Segoe UI"/>
              </a:rPr>
              <a:t>0.8 s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Shape 28"/>
          <p:cNvSpPr/>
          <p:nvPr/>
        </p:nvSpPr>
        <p:spPr>
          <a:xfrm>
            <a:off x="411480" y="3493080"/>
            <a:ext cx="4663080" cy="402120"/>
          </a:xfrm>
          <a:prstGeom prst="roundRect">
            <a:avLst>
              <a:gd name="adj" fmla="val 18182"/>
            </a:avLst>
          </a:prstGeom>
          <a:solidFill>
            <a:srgbClr val="111827"/>
          </a:solidFill>
          <a:ln w="635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29"/>
          <p:cNvSpPr/>
          <p:nvPr/>
        </p:nvSpPr>
        <p:spPr>
          <a:xfrm>
            <a:off x="548640" y="3520440"/>
            <a:ext cx="16455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Normal Startup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30"/>
          <p:cNvSpPr/>
          <p:nvPr/>
        </p:nvSpPr>
        <p:spPr>
          <a:xfrm>
            <a:off x="2240280" y="3520440"/>
            <a:ext cx="1828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Segoe UI"/>
                <a:ea typeface="Segoe UI"/>
              </a:rPr>
              <a:t>300% inrush for ~800ms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Shape 31"/>
          <p:cNvSpPr/>
          <p:nvPr/>
        </p:nvSpPr>
        <p:spPr>
          <a:xfrm>
            <a:off x="4069080" y="3538800"/>
            <a:ext cx="868320" cy="255600"/>
          </a:xfrm>
          <a:prstGeom prst="roundRect">
            <a:avLst>
              <a:gd name="adj" fmla="val 17857"/>
            </a:avLst>
          </a:prstGeom>
          <a:solidFill>
            <a:srgbClr val="1e293b"/>
          </a:solidFill>
          <a:ln w="10160">
            <a:solidFill>
              <a:srgbClr val="00ff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32"/>
          <p:cNvSpPr/>
          <p:nvPr/>
        </p:nvSpPr>
        <p:spPr>
          <a:xfrm>
            <a:off x="4069080" y="3538800"/>
            <a:ext cx="868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00ff88"/>
                </a:solidFill>
                <a:effectLst/>
                <a:uFillTx/>
                <a:latin typeface="Segoe UI"/>
                <a:ea typeface="Segoe UI"/>
              </a:rPr>
              <a:t>No trip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Shape 33"/>
          <p:cNvSpPr/>
          <p:nvPr/>
        </p:nvSpPr>
        <p:spPr>
          <a:xfrm>
            <a:off x="411480" y="3968640"/>
            <a:ext cx="4663080" cy="402120"/>
          </a:xfrm>
          <a:prstGeom prst="roundRect">
            <a:avLst>
              <a:gd name="adj" fmla="val 18182"/>
            </a:avLst>
          </a:prstGeom>
          <a:solidFill>
            <a:srgbClr val="111827"/>
          </a:solidFill>
          <a:ln w="635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 34"/>
          <p:cNvSpPr/>
          <p:nvPr/>
        </p:nvSpPr>
        <p:spPr>
          <a:xfrm>
            <a:off x="548640" y="3996000"/>
            <a:ext cx="16455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Auto-Restart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35"/>
          <p:cNvSpPr/>
          <p:nvPr/>
        </p:nvSpPr>
        <p:spPr>
          <a:xfrm>
            <a:off x="2240280" y="3996000"/>
            <a:ext cx="1828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Segoe UI"/>
                <a:ea typeface="Segoe UI"/>
              </a:rPr>
              <a:t>30s stable conditions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Shape 36"/>
          <p:cNvSpPr/>
          <p:nvPr/>
        </p:nvSpPr>
        <p:spPr>
          <a:xfrm>
            <a:off x="4069080" y="4014360"/>
            <a:ext cx="868320" cy="255600"/>
          </a:xfrm>
          <a:prstGeom prst="roundRect">
            <a:avLst>
              <a:gd name="adj" fmla="val 17857"/>
            </a:avLst>
          </a:prstGeom>
          <a:solidFill>
            <a:srgbClr val="1e293b"/>
          </a:solidFill>
          <a:ln w="10160">
            <a:solidFill>
              <a:srgbClr val="00ff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37"/>
          <p:cNvSpPr/>
          <p:nvPr/>
        </p:nvSpPr>
        <p:spPr>
          <a:xfrm>
            <a:off x="4069080" y="4014360"/>
            <a:ext cx="868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00ff88"/>
                </a:solidFill>
                <a:effectLst/>
                <a:uFillTx/>
                <a:latin typeface="Segoe UI"/>
                <a:ea typeface="Segoe UI"/>
              </a:rPr>
              <a:t>✓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Shape 38"/>
          <p:cNvSpPr/>
          <p:nvPr/>
        </p:nvSpPr>
        <p:spPr>
          <a:xfrm>
            <a:off x="411480" y="4462200"/>
            <a:ext cx="4663080" cy="255600"/>
          </a:xfrm>
          <a:prstGeom prst="roundRect">
            <a:avLst>
              <a:gd name="adj" fmla="val 28571"/>
            </a:avLst>
          </a:prstGeom>
          <a:solidFill>
            <a:srgbClr val="0d2a1a"/>
          </a:solidFill>
          <a:ln w="635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39"/>
          <p:cNvSpPr/>
          <p:nvPr/>
        </p:nvSpPr>
        <p:spPr>
          <a:xfrm>
            <a:off x="548640" y="4480560"/>
            <a:ext cx="4388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00ff88"/>
                </a:solidFill>
                <a:effectLst/>
                <a:uFillTx/>
                <a:latin typeface="Segoe UI"/>
                <a:ea typeface="Segoe UI"/>
              </a:rPr>
              <a:t>Water Level Accuracy: within 2% error across full range (0–100%)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0" name="Image 0" descr="/home/claude/aq_unpacked/ppt/media/image6.png"/>
          <p:cNvPicPr/>
          <p:nvPr/>
        </p:nvPicPr>
        <p:blipFill>
          <a:blip r:embed="rId1"/>
          <a:stretch/>
        </p:blipFill>
        <p:spPr>
          <a:xfrm>
            <a:off x="5166360" y="804600"/>
            <a:ext cx="3520080" cy="2102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1" name="Image 1" descr="/home/claude/aq_unpacked/ppt/media/image7.jpeg"/>
          <p:cNvPicPr/>
          <p:nvPr/>
        </p:nvPicPr>
        <p:blipFill>
          <a:blip r:embed="rId2"/>
          <a:stretch/>
        </p:blipFill>
        <p:spPr>
          <a:xfrm>
            <a:off x="5166360" y="2999160"/>
            <a:ext cx="1691280" cy="1737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2" name="Image 2" descr="/home/claude/aq_unpacked/ppt/media/image8.jpeg"/>
          <p:cNvPicPr/>
          <p:nvPr/>
        </p:nvPicPr>
        <p:blipFill>
          <a:blip r:embed="rId3"/>
          <a:stretch/>
        </p:blipFill>
        <p:spPr>
          <a:xfrm>
            <a:off x="6949440" y="2999160"/>
            <a:ext cx="1737000" cy="1737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3" name="Shape 40"/>
          <p:cNvSpPr/>
          <p:nvPr/>
        </p:nvSpPr>
        <p:spPr>
          <a:xfrm>
            <a:off x="0" y="4773240"/>
            <a:ext cx="9143640" cy="365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41"/>
          <p:cNvSpPr/>
          <p:nvPr/>
        </p:nvSpPr>
        <p:spPr>
          <a:xfrm>
            <a:off x="274320" y="479160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0" u="none" strike="noStrike">
                <a:solidFill>
                  <a:srgbClr val="94a3b8"/>
                </a:solidFill>
                <a:effectLst/>
                <a:uFillTx/>
                <a:latin typeface="Segoe UI"/>
                <a:ea typeface="Segoe UI"/>
              </a:rPr>
              <a:t>AquaGuard AI  |  Smart Borewell Motor Protection System  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42"/>
          <p:cNvSpPr/>
          <p:nvPr/>
        </p:nvSpPr>
        <p:spPr>
          <a:xfrm>
            <a:off x="8686800" y="479160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0" u="none" strike="noStrike">
                <a:solidFill>
                  <a:srgbClr val="00e5ff"/>
                </a:solidFill>
                <a:effectLst/>
                <a:uFillTx/>
                <a:latin typeface="Segoe UI"/>
                <a:ea typeface="Segoe UI"/>
              </a:rPr>
              <a:t>12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1"/>
          <p:cNvSpPr/>
          <p:nvPr/>
        </p:nvSpPr>
        <p:spPr>
          <a:xfrm>
            <a:off x="411480" y="255960"/>
            <a:ext cx="8320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00e5ff"/>
                </a:solidFill>
                <a:effectLst/>
                <a:uFillTx/>
                <a:latin typeface="Segoe UI"/>
                <a:ea typeface="Segoe UI"/>
              </a:rPr>
              <a:t>Conclusion &amp; Future Scope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Shape 2"/>
          <p:cNvSpPr/>
          <p:nvPr/>
        </p:nvSpPr>
        <p:spPr>
          <a:xfrm>
            <a:off x="411480" y="822960"/>
            <a:ext cx="8320680" cy="1874160"/>
          </a:xfrm>
          <a:prstGeom prst="roundRect">
            <a:avLst>
              <a:gd name="adj" fmla="val 3902"/>
            </a:avLst>
          </a:prstGeom>
          <a:solidFill>
            <a:srgbClr val="111827"/>
          </a:solidFill>
          <a:ln w="635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3"/>
          <p:cNvSpPr/>
          <p:nvPr/>
        </p:nvSpPr>
        <p:spPr>
          <a:xfrm>
            <a:off x="567000" y="896040"/>
            <a:ext cx="7954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00e5ff"/>
                </a:solidFill>
                <a:effectLst/>
                <a:uFillTx/>
                <a:latin typeface="Segoe UI"/>
                <a:ea typeface="Segoe UI"/>
              </a:rPr>
              <a:t>Conclusion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4"/>
          <p:cNvSpPr/>
          <p:nvPr/>
        </p:nvSpPr>
        <p:spPr>
          <a:xfrm>
            <a:off x="567000" y="1207080"/>
            <a:ext cx="800064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AquaGuard AI successfully demonstrates that a single low-cost ESP32-based platform can integrate adaptive RMS-based three-phase fault discrimination, HC-SR04 water-level intelligence, automatic conditional restart, dual-mode connectivity, and local display. All seven fault detection scenarios passed with no nuisance trips. The system provides Indian farmers with an intelligent, affordable alternative to expensive SCADA systems.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 5"/>
          <p:cNvSpPr/>
          <p:nvPr/>
        </p:nvSpPr>
        <p:spPr>
          <a:xfrm>
            <a:off x="411480" y="2834640"/>
            <a:ext cx="8320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00ff88"/>
                </a:solidFill>
                <a:effectLst/>
                <a:uFillTx/>
                <a:latin typeface="Segoe UI"/>
                <a:ea typeface="Segoe UI"/>
              </a:rPr>
              <a:t>Future Scope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Shape 6"/>
          <p:cNvSpPr/>
          <p:nvPr/>
        </p:nvSpPr>
        <p:spPr>
          <a:xfrm>
            <a:off x="411480" y="3163680"/>
            <a:ext cx="8320680" cy="237240"/>
          </a:xfrm>
          <a:prstGeom prst="roundRect">
            <a:avLst>
              <a:gd name="adj" fmla="val 30769"/>
            </a:avLst>
          </a:prstGeom>
          <a:solidFill>
            <a:srgbClr val="111827"/>
          </a:solidFill>
          <a:ln w="635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3" name="Shape 7"/>
          <p:cNvSpPr/>
          <p:nvPr/>
        </p:nvSpPr>
        <p:spPr>
          <a:xfrm>
            <a:off x="411480" y="3163680"/>
            <a:ext cx="45360" cy="23724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8"/>
          <p:cNvSpPr/>
          <p:nvPr/>
        </p:nvSpPr>
        <p:spPr>
          <a:xfrm>
            <a:off x="567000" y="3182040"/>
            <a:ext cx="7954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GSM/4G integration for connectivity in areas without WiFi coverage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Shape 9"/>
          <p:cNvSpPr/>
          <p:nvPr/>
        </p:nvSpPr>
        <p:spPr>
          <a:xfrm>
            <a:off x="411480" y="3438000"/>
            <a:ext cx="8320680" cy="237240"/>
          </a:xfrm>
          <a:prstGeom prst="roundRect">
            <a:avLst>
              <a:gd name="adj" fmla="val 30769"/>
            </a:avLst>
          </a:prstGeom>
          <a:solidFill>
            <a:srgbClr val="0d1526"/>
          </a:solidFill>
          <a:ln w="635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6" name="Shape 10"/>
          <p:cNvSpPr/>
          <p:nvPr/>
        </p:nvSpPr>
        <p:spPr>
          <a:xfrm>
            <a:off x="411480" y="3438000"/>
            <a:ext cx="45360" cy="23724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 11"/>
          <p:cNvSpPr/>
          <p:nvPr/>
        </p:nvSpPr>
        <p:spPr>
          <a:xfrm>
            <a:off x="567000" y="3456360"/>
            <a:ext cx="7954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Solar-powered operation for remote off-grid borewell installations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Shape 12"/>
          <p:cNvSpPr/>
          <p:nvPr/>
        </p:nvSpPr>
        <p:spPr>
          <a:xfrm>
            <a:off x="411480" y="3712320"/>
            <a:ext cx="8320680" cy="237240"/>
          </a:xfrm>
          <a:prstGeom prst="roundRect">
            <a:avLst>
              <a:gd name="adj" fmla="val 30769"/>
            </a:avLst>
          </a:prstGeom>
          <a:solidFill>
            <a:srgbClr val="111827"/>
          </a:solidFill>
          <a:ln w="635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9" name="Shape 13"/>
          <p:cNvSpPr/>
          <p:nvPr/>
        </p:nvSpPr>
        <p:spPr>
          <a:xfrm>
            <a:off x="411480" y="3712320"/>
            <a:ext cx="45360" cy="23724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14"/>
          <p:cNvSpPr/>
          <p:nvPr/>
        </p:nvSpPr>
        <p:spPr>
          <a:xfrm>
            <a:off x="567000" y="3730680"/>
            <a:ext cx="7954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AI/ML-based predictive maintenance using historical fault logs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Shape 15"/>
          <p:cNvSpPr/>
          <p:nvPr/>
        </p:nvSpPr>
        <p:spPr>
          <a:xfrm>
            <a:off x="411480" y="3986640"/>
            <a:ext cx="8320680" cy="237240"/>
          </a:xfrm>
          <a:prstGeom prst="roundRect">
            <a:avLst>
              <a:gd name="adj" fmla="val 30769"/>
            </a:avLst>
          </a:prstGeom>
          <a:solidFill>
            <a:srgbClr val="0d1526"/>
          </a:solidFill>
          <a:ln w="635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2" name="Shape 16"/>
          <p:cNvSpPr/>
          <p:nvPr/>
        </p:nvSpPr>
        <p:spPr>
          <a:xfrm>
            <a:off x="411480" y="3986640"/>
            <a:ext cx="45360" cy="23724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17"/>
          <p:cNvSpPr/>
          <p:nvPr/>
        </p:nvSpPr>
        <p:spPr>
          <a:xfrm>
            <a:off x="567000" y="4005000"/>
            <a:ext cx="7954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Multi-motor management from a single centralised cloud dashboard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Shape 18"/>
          <p:cNvSpPr/>
          <p:nvPr/>
        </p:nvSpPr>
        <p:spPr>
          <a:xfrm>
            <a:off x="411480" y="4260960"/>
            <a:ext cx="8320680" cy="237240"/>
          </a:xfrm>
          <a:prstGeom prst="roundRect">
            <a:avLst>
              <a:gd name="adj" fmla="val 30769"/>
            </a:avLst>
          </a:prstGeom>
          <a:solidFill>
            <a:srgbClr val="111827"/>
          </a:solidFill>
          <a:ln w="635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5" name="Shape 19"/>
          <p:cNvSpPr/>
          <p:nvPr/>
        </p:nvSpPr>
        <p:spPr>
          <a:xfrm>
            <a:off x="411480" y="4260960"/>
            <a:ext cx="45360" cy="23724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 20"/>
          <p:cNvSpPr/>
          <p:nvPr/>
        </p:nvSpPr>
        <p:spPr>
          <a:xfrm>
            <a:off x="567000" y="4279320"/>
            <a:ext cx="7954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Soil moisture sensing integration for comprehensive agricultural IoT platform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Shape 21"/>
          <p:cNvSpPr/>
          <p:nvPr/>
        </p:nvSpPr>
        <p:spPr>
          <a:xfrm>
            <a:off x="0" y="4773240"/>
            <a:ext cx="9143640" cy="365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 22"/>
          <p:cNvSpPr/>
          <p:nvPr/>
        </p:nvSpPr>
        <p:spPr>
          <a:xfrm>
            <a:off x="274320" y="479160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0" u="none" strike="noStrike">
                <a:solidFill>
                  <a:srgbClr val="94a3b8"/>
                </a:solidFill>
                <a:effectLst/>
                <a:uFillTx/>
                <a:latin typeface="Segoe UI"/>
                <a:ea typeface="Segoe UI"/>
              </a:rPr>
              <a:t>AquaGuard AI  |  Smart Borewell Motor Protection System 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 23"/>
          <p:cNvSpPr/>
          <p:nvPr/>
        </p:nvSpPr>
        <p:spPr>
          <a:xfrm>
            <a:off x="8686800" y="479160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0" u="none" strike="noStrike">
                <a:solidFill>
                  <a:srgbClr val="00e5ff"/>
                </a:solidFill>
                <a:effectLst/>
                <a:uFillTx/>
                <a:latin typeface="Segoe UI"/>
                <a:ea typeface="Segoe UI"/>
              </a:rPr>
              <a:t>13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 1"/>
          <p:cNvSpPr/>
          <p:nvPr/>
        </p:nvSpPr>
        <p:spPr>
          <a:xfrm>
            <a:off x="411480" y="255960"/>
            <a:ext cx="8320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00e5ff"/>
                </a:solidFill>
                <a:effectLst/>
                <a:uFillTx/>
                <a:latin typeface="Segoe UI"/>
                <a:ea typeface="Segoe UI"/>
              </a:rPr>
              <a:t>References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 2"/>
          <p:cNvSpPr/>
          <p:nvPr/>
        </p:nvSpPr>
        <p:spPr>
          <a:xfrm>
            <a:off x="411480" y="8229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1" u="none" strike="noStrike">
                <a:solidFill>
                  <a:srgbClr val="00e5ff"/>
                </a:solidFill>
                <a:effectLst/>
                <a:uFillTx/>
                <a:latin typeface="Segoe UI"/>
                <a:ea typeface="Segoe UI"/>
              </a:rPr>
              <a:t>[1]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 3"/>
          <p:cNvSpPr/>
          <p:nvPr/>
        </p:nvSpPr>
        <p:spPr>
          <a:xfrm>
            <a:off x="868680" y="822960"/>
            <a:ext cx="7817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Singh, R. &amp; Verma, A. (2019). Review of relay-based motor protection for agricultural applications. IJEE, 12(3), 45–52.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Shape 4"/>
          <p:cNvSpPr/>
          <p:nvPr/>
        </p:nvSpPr>
        <p:spPr>
          <a:xfrm>
            <a:off x="411480" y="1207080"/>
            <a:ext cx="8274960" cy="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6000" bIns="-36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 5"/>
          <p:cNvSpPr/>
          <p:nvPr/>
        </p:nvSpPr>
        <p:spPr>
          <a:xfrm>
            <a:off x="411480" y="12985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1" u="none" strike="noStrike">
                <a:solidFill>
                  <a:srgbClr val="00e5ff"/>
                </a:solidFill>
                <a:effectLst/>
                <a:uFillTx/>
                <a:latin typeface="Segoe UI"/>
                <a:ea typeface="Segoe UI"/>
              </a:rPr>
              <a:t>[2]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 6"/>
          <p:cNvSpPr/>
          <p:nvPr/>
        </p:nvSpPr>
        <p:spPr>
          <a:xfrm>
            <a:off x="868680" y="1298520"/>
            <a:ext cx="7817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Sharma, P. et al. (2020). IoT-based borewell water-level indicator system. IJCA, 8(4), 23–29.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Shape 7"/>
          <p:cNvSpPr/>
          <p:nvPr/>
        </p:nvSpPr>
        <p:spPr>
          <a:xfrm>
            <a:off x="411480" y="1682640"/>
            <a:ext cx="8274960" cy="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6000" bIns="-36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 8"/>
          <p:cNvSpPr/>
          <p:nvPr/>
        </p:nvSpPr>
        <p:spPr>
          <a:xfrm>
            <a:off x="411480" y="17740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1" u="none" strike="noStrike">
                <a:solidFill>
                  <a:srgbClr val="00e5ff"/>
                </a:solidFill>
                <a:effectLst/>
                <a:uFillTx/>
                <a:latin typeface="Segoe UI"/>
                <a:ea typeface="Segoe UI"/>
              </a:rPr>
              <a:t>[3]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 9"/>
          <p:cNvSpPr/>
          <p:nvPr/>
        </p:nvSpPr>
        <p:spPr>
          <a:xfrm>
            <a:off x="868680" y="1774080"/>
            <a:ext cx="7817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Kumar, S. &amp; Reddy, K. (2021). Voltage-based protection for induction motors in rural feeders. IJEEE, 9(2), 78–85.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Shape 10"/>
          <p:cNvSpPr/>
          <p:nvPr/>
        </p:nvSpPr>
        <p:spPr>
          <a:xfrm>
            <a:off x="411480" y="2157840"/>
            <a:ext cx="8274960" cy="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6000" bIns="-36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 11"/>
          <p:cNvSpPr/>
          <p:nvPr/>
        </p:nvSpPr>
        <p:spPr>
          <a:xfrm>
            <a:off x="411480" y="22492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1" u="none" strike="noStrike">
                <a:solidFill>
                  <a:srgbClr val="00e5ff"/>
                </a:solidFill>
                <a:effectLst/>
                <a:uFillTx/>
                <a:latin typeface="Segoe UI"/>
                <a:ea typeface="Segoe UI"/>
              </a:rPr>
              <a:t>[4]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 12"/>
          <p:cNvSpPr/>
          <p:nvPr/>
        </p:nvSpPr>
        <p:spPr>
          <a:xfrm>
            <a:off x="868680" y="2249280"/>
            <a:ext cx="7817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Patel, M. et al. (2022). Microcontroller-based motor guard system for agricultural pumps. IJECS, 11(1), 34–41.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Shape 13"/>
          <p:cNvSpPr/>
          <p:nvPr/>
        </p:nvSpPr>
        <p:spPr>
          <a:xfrm>
            <a:off x="411480" y="2633400"/>
            <a:ext cx="8274960" cy="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6000" bIns="-36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 14"/>
          <p:cNvSpPr/>
          <p:nvPr/>
        </p:nvSpPr>
        <p:spPr>
          <a:xfrm>
            <a:off x="411480" y="272484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1" u="none" strike="noStrike">
                <a:solidFill>
                  <a:srgbClr val="00e5ff"/>
                </a:solidFill>
                <a:effectLst/>
                <a:uFillTx/>
                <a:latin typeface="Segoe UI"/>
                <a:ea typeface="Segoe UI"/>
              </a:rPr>
              <a:t>[5]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 15"/>
          <p:cNvSpPr/>
          <p:nvPr/>
        </p:nvSpPr>
        <p:spPr>
          <a:xfrm>
            <a:off x="868680" y="2724840"/>
            <a:ext cx="7817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Rajan, T. &amp; Nair, S. (2023). IoT-based motor monitoring dashboard using ESP32. IJIOT, 5(3), 102–109.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Shape 16"/>
          <p:cNvSpPr/>
          <p:nvPr/>
        </p:nvSpPr>
        <p:spPr>
          <a:xfrm>
            <a:off x="411480" y="3108960"/>
            <a:ext cx="8274960" cy="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6000" bIns="-36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7" name="Text 17"/>
          <p:cNvSpPr/>
          <p:nvPr/>
        </p:nvSpPr>
        <p:spPr>
          <a:xfrm>
            <a:off x="411480" y="32004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1" u="none" strike="noStrike">
                <a:solidFill>
                  <a:srgbClr val="00e5ff"/>
                </a:solidFill>
                <a:effectLst/>
                <a:uFillTx/>
                <a:latin typeface="Segoe UI"/>
                <a:ea typeface="Segoe UI"/>
              </a:rPr>
              <a:t>[6]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Text 18"/>
          <p:cNvSpPr/>
          <p:nvPr/>
        </p:nvSpPr>
        <p:spPr>
          <a:xfrm>
            <a:off x="868680" y="3200400"/>
            <a:ext cx="7817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Benbouzid, M.E.H. (2000). Review of induction motor signature analysis as a medium for faults detection. IEEE Trans. Ind. Electron., 47(5), 984–993.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Shape 19"/>
          <p:cNvSpPr/>
          <p:nvPr/>
        </p:nvSpPr>
        <p:spPr>
          <a:xfrm>
            <a:off x="411480" y="3584520"/>
            <a:ext cx="8274960" cy="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6000" bIns="-36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 20"/>
          <p:cNvSpPr/>
          <p:nvPr/>
        </p:nvSpPr>
        <p:spPr>
          <a:xfrm>
            <a:off x="411480" y="36759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1" u="none" strike="noStrike">
                <a:solidFill>
                  <a:srgbClr val="00e5ff"/>
                </a:solidFill>
                <a:effectLst/>
                <a:uFillTx/>
                <a:latin typeface="Segoe UI"/>
                <a:ea typeface="Segoe UI"/>
              </a:rPr>
              <a:t>[7]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 21"/>
          <p:cNvSpPr/>
          <p:nvPr/>
        </p:nvSpPr>
        <p:spPr>
          <a:xfrm>
            <a:off x="868680" y="3675960"/>
            <a:ext cx="7817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Gubbi, J. et al. (2013). Internet of Things (IoT): A vision, architectural elements, and future directions. Future Gen. Comput. Syst., 29(7), 1645–1660.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Shape 22"/>
          <p:cNvSpPr/>
          <p:nvPr/>
        </p:nvSpPr>
        <p:spPr>
          <a:xfrm>
            <a:off x="411480" y="4060080"/>
            <a:ext cx="8274960" cy="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6000" bIns="-36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 23"/>
          <p:cNvSpPr/>
          <p:nvPr/>
        </p:nvSpPr>
        <p:spPr>
          <a:xfrm>
            <a:off x="411480" y="41515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1" u="none" strike="noStrike">
                <a:solidFill>
                  <a:srgbClr val="00e5ff"/>
                </a:solidFill>
                <a:effectLst/>
                <a:uFillTx/>
                <a:latin typeface="Segoe UI"/>
                <a:ea typeface="Segoe UI"/>
              </a:rPr>
              <a:t>[8]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 24"/>
          <p:cNvSpPr/>
          <p:nvPr/>
        </p:nvSpPr>
        <p:spPr>
          <a:xfrm>
            <a:off x="868680" y="4151520"/>
            <a:ext cx="7817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Goap, A. et al. (2018). An IoT-based smart irrigation management system using machine learning. Computers and Electronics in Agriculture, 155, 41–49.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Shape 25"/>
          <p:cNvSpPr/>
          <p:nvPr/>
        </p:nvSpPr>
        <p:spPr>
          <a:xfrm>
            <a:off x="0" y="4773240"/>
            <a:ext cx="9143640" cy="365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 26"/>
          <p:cNvSpPr/>
          <p:nvPr/>
        </p:nvSpPr>
        <p:spPr>
          <a:xfrm>
            <a:off x="274320" y="479160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0" u="none" strike="noStrike">
                <a:solidFill>
                  <a:srgbClr val="94a3b8"/>
                </a:solidFill>
                <a:effectLst/>
                <a:uFillTx/>
                <a:latin typeface="Segoe UI"/>
                <a:ea typeface="Segoe UI"/>
              </a:rPr>
              <a:t>AquaGuard AI  |  Smart Borewell Motor Protection System 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 27"/>
          <p:cNvSpPr/>
          <p:nvPr/>
        </p:nvSpPr>
        <p:spPr>
          <a:xfrm>
            <a:off x="8686800" y="479160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0" u="none" strike="noStrike">
                <a:solidFill>
                  <a:srgbClr val="00e5ff"/>
                </a:solidFill>
                <a:effectLst/>
                <a:uFillTx/>
                <a:latin typeface="Segoe UI"/>
                <a:ea typeface="Segoe UI"/>
              </a:rPr>
              <a:t>14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9" name="Shape 1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Shape 2"/>
          <p:cNvSpPr/>
          <p:nvPr/>
        </p:nvSpPr>
        <p:spPr>
          <a:xfrm>
            <a:off x="0" y="5083920"/>
            <a:ext cx="9143640" cy="5436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Text 3"/>
          <p:cNvSpPr/>
          <p:nvPr/>
        </p:nvSpPr>
        <p:spPr>
          <a:xfrm>
            <a:off x="365760" y="1463040"/>
            <a:ext cx="841212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6400" b="1" u="none" strike="noStrike">
                <a:solidFill>
                  <a:srgbClr val="00e5ff"/>
                </a:solidFill>
                <a:effectLst/>
                <a:uFillTx/>
                <a:latin typeface="Segoe UI"/>
                <a:ea typeface="Segoe UI"/>
              </a:rPr>
              <a:t>Thank You</a:t>
            </a:r>
            <a:endParaRPr lang="en-IN" sz="6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Shape 4"/>
          <p:cNvSpPr/>
          <p:nvPr/>
        </p:nvSpPr>
        <p:spPr>
          <a:xfrm>
            <a:off x="2926080" y="2816280"/>
            <a:ext cx="3291480" cy="270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7640" bIns="-1764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 5"/>
          <p:cNvSpPr/>
          <p:nvPr/>
        </p:nvSpPr>
        <p:spPr>
          <a:xfrm>
            <a:off x="365760" y="2926080"/>
            <a:ext cx="8412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AquaGuard AI — Smart Protection System for Three-Phase Agricultural Induction Motors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 6"/>
          <p:cNvSpPr/>
          <p:nvPr/>
        </p:nvSpPr>
        <p:spPr>
          <a:xfrm>
            <a:off x="365760" y="3337560"/>
            <a:ext cx="8412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Shape 7"/>
          <p:cNvSpPr/>
          <p:nvPr/>
        </p:nvSpPr>
        <p:spPr>
          <a:xfrm>
            <a:off x="960120" y="3931920"/>
            <a:ext cx="1691280" cy="292320"/>
          </a:xfrm>
          <a:prstGeom prst="roundRect">
            <a:avLst>
              <a:gd name="adj" fmla="val 15625"/>
            </a:avLst>
          </a:prstGeom>
          <a:solidFill>
            <a:srgbClr val="1e293b"/>
          </a:solidFill>
          <a:ln w="10160">
            <a:solidFill>
              <a:srgbClr val="00e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6" name="Text 8"/>
          <p:cNvSpPr/>
          <p:nvPr/>
        </p:nvSpPr>
        <p:spPr>
          <a:xfrm>
            <a:off x="960120" y="3931920"/>
            <a:ext cx="1691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1" u="none" strike="noStrike">
                <a:solidFill>
                  <a:srgbClr val="00e5ff"/>
                </a:solidFill>
                <a:effectLst/>
                <a:uFillTx/>
                <a:latin typeface="Segoe UI"/>
                <a:ea typeface="Segoe UI"/>
              </a:rPr>
              <a:t>N. Anirudh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Shape 9"/>
          <p:cNvSpPr/>
          <p:nvPr/>
        </p:nvSpPr>
        <p:spPr>
          <a:xfrm>
            <a:off x="2788920" y="3931920"/>
            <a:ext cx="1691280" cy="292320"/>
          </a:xfrm>
          <a:prstGeom prst="roundRect">
            <a:avLst>
              <a:gd name="adj" fmla="val 15625"/>
            </a:avLst>
          </a:prstGeom>
          <a:solidFill>
            <a:srgbClr val="1e293b"/>
          </a:solidFill>
          <a:ln w="10160">
            <a:solidFill>
              <a:srgbClr val="00e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 10"/>
          <p:cNvSpPr/>
          <p:nvPr/>
        </p:nvSpPr>
        <p:spPr>
          <a:xfrm>
            <a:off x="2788920" y="3931920"/>
            <a:ext cx="1691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1" u="none" strike="noStrike">
                <a:solidFill>
                  <a:srgbClr val="00e5ff"/>
                </a:solidFill>
                <a:effectLst/>
                <a:uFillTx/>
                <a:latin typeface="Segoe UI"/>
                <a:ea typeface="Segoe UI"/>
              </a:rPr>
              <a:t>V. Ranjith Kumar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Shape 11"/>
          <p:cNvSpPr/>
          <p:nvPr/>
        </p:nvSpPr>
        <p:spPr>
          <a:xfrm>
            <a:off x="4617720" y="3931920"/>
            <a:ext cx="1691280" cy="292320"/>
          </a:xfrm>
          <a:prstGeom prst="roundRect">
            <a:avLst>
              <a:gd name="adj" fmla="val 15625"/>
            </a:avLst>
          </a:prstGeom>
          <a:solidFill>
            <a:srgbClr val="1e293b"/>
          </a:solidFill>
          <a:ln w="10160">
            <a:solidFill>
              <a:srgbClr val="00e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0" name="Text 12"/>
          <p:cNvSpPr/>
          <p:nvPr/>
        </p:nvSpPr>
        <p:spPr>
          <a:xfrm>
            <a:off x="4617720" y="3931920"/>
            <a:ext cx="1691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1" u="none" strike="noStrike">
                <a:solidFill>
                  <a:srgbClr val="00e5ff"/>
                </a:solidFill>
                <a:effectLst/>
                <a:uFillTx/>
                <a:latin typeface="Segoe UI"/>
                <a:ea typeface="Segoe UI"/>
              </a:rPr>
              <a:t>A. Karthik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Shape 13"/>
          <p:cNvSpPr/>
          <p:nvPr/>
        </p:nvSpPr>
        <p:spPr>
          <a:xfrm>
            <a:off x="6446520" y="3931920"/>
            <a:ext cx="1691280" cy="292320"/>
          </a:xfrm>
          <a:prstGeom prst="roundRect">
            <a:avLst>
              <a:gd name="adj" fmla="val 15625"/>
            </a:avLst>
          </a:prstGeom>
          <a:solidFill>
            <a:srgbClr val="1e293b"/>
          </a:solidFill>
          <a:ln w="10160">
            <a:solidFill>
              <a:srgbClr val="00e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 14"/>
          <p:cNvSpPr/>
          <p:nvPr/>
        </p:nvSpPr>
        <p:spPr>
          <a:xfrm>
            <a:off x="6446520" y="3931920"/>
            <a:ext cx="1691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1" u="none" strike="noStrike">
                <a:solidFill>
                  <a:srgbClr val="00e5ff"/>
                </a:solidFill>
                <a:effectLst/>
                <a:uFillTx/>
                <a:latin typeface="Segoe UI"/>
                <a:ea typeface="Segoe UI"/>
              </a:rPr>
              <a:t>R. Mahesh Babu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LibreOffice/25.8.7.3$Windows_X86_64 LibreOffice_project/30742500f2d3eb4366ac312fa33d3dcabdb3eba5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2026-07-23T06:08:07Z</dcterms:created>
  <dc:creator>PptxGenJS</dc:creator>
  <dc:description/>
  <dc:language>en-IN</dc:language>
  <cp:lastModifiedBy/>
  <dcterms:modified xsi:type="dcterms:W3CDTF">2026-07-23T11:45:42Z</dcterms:modified>
  <cp:revision>3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15</vt:i4>
  </property>
  <property fmtid="{D5CDD505-2E9C-101B-9397-08002B2CF9AE}" pid="3" name="PresentationFormat">
    <vt:lpwstr>On-screen Show (16:9)</vt:lpwstr>
  </property>
  <property fmtid="{D5CDD505-2E9C-101B-9397-08002B2CF9AE}" pid="4" name="Slides">
    <vt:i4>15</vt:i4>
  </property>
</Properties>
</file>